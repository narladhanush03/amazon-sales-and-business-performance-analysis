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77D"/>
    <a:srgbClr val="C19A6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834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300" b="0" i="0" u="none" strike="noStrike" dirty="0">
                <a:solidFill>
                  <a:srgbClr val="16233B"/>
                </a:solidFill>
                <a:latin typeface="Calibri"/>
              </a:rPr>
              <a:t>Sales by Category 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121.25M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704678362573096E-2"/>
                      <c:h val="3.634269980958262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A-FCD7-4D54-8C15-9317A9558D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492545C-CCCC-4BD2-BD87-1D8F99BD1602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2M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87134502923962E-2"/>
                      <c:h val="3.634269980958262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CD7-4D54-8C15-9317A9558D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28.87M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4040642123681902E-2"/>
                      <c:h val="3.634269980958262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FCD7-4D54-8C15-9317A9558D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18.45M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CD7-4D54-8C15-9317A9558D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11.96M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CD7-4D54-8C15-9317A9558D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8.05M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CD7-4D54-8C15-9317A9558D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2F1604F-3F2E-4CEE-8417-E79406179BB3}" type="VALUE">
                      <a:rPr lang="en-US" smtClean="0"/>
                      <a:pPr/>
                      <a:t>[VALUE]</a:t>
                    </a:fld>
                    <a:r>
                      <a:rPr lang="en-US"/>
                      <a:t>0M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CD7-4D54-8C15-9317A9558D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5.92M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CD7-4D54-8C15-9317A9558DA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3.98M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CD7-4D54-8C15-9317A9558DA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dirty="0"/>
                      <a:t>2.57M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CD7-4D54-8C15-9317A9558DAA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Electronics</c:v>
                </c:pt>
                <c:pt idx="1">
                  <c:v>Furniture</c:v>
                </c:pt>
                <c:pt idx="2">
                  <c:v>Home &amp; Kitchen</c:v>
                </c:pt>
                <c:pt idx="3">
                  <c:v>Sports &amp; Fitness</c:v>
                </c:pt>
                <c:pt idx="4">
                  <c:v>Footwear</c:v>
                </c:pt>
                <c:pt idx="5">
                  <c:v>Toys &amp; Games</c:v>
                </c:pt>
                <c:pt idx="6">
                  <c:v>Clothing</c:v>
                </c:pt>
                <c:pt idx="7">
                  <c:v>Beauty &amp; Personal Care</c:v>
                </c:pt>
                <c:pt idx="8">
                  <c:v>Grocery</c:v>
                </c:pt>
                <c:pt idx="9">
                  <c:v>Books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121.25</c:v>
                </c:pt>
                <c:pt idx="1">
                  <c:v>102.62</c:v>
                </c:pt>
                <c:pt idx="2">
                  <c:v>28.87</c:v>
                </c:pt>
                <c:pt idx="3">
                  <c:v>18.45</c:v>
                </c:pt>
                <c:pt idx="4">
                  <c:v>11.96</c:v>
                </c:pt>
                <c:pt idx="5">
                  <c:v>8.0500000000000007</c:v>
                </c:pt>
                <c:pt idx="6">
                  <c:v>6.3</c:v>
                </c:pt>
                <c:pt idx="7">
                  <c:v>5.92</c:v>
                </c:pt>
                <c:pt idx="8">
                  <c:v>3.98</c:v>
                </c:pt>
                <c:pt idx="9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7-4D54-8C15-9317A9558D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250" b="0" i="0" u="none" strike="noStrike">
                <a:solidFill>
                  <a:srgbClr val="16233B"/>
                </a:solidFill>
                <a:latin typeface="Calibri"/>
              </a:rPr>
              <a:t>New vs Returning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169.89M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E2D-4110-97E0-7F275C9ACEF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140.07M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E2D-4110-97E0-7F275C9ACEF2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169.89</c:v>
                </c:pt>
                <c:pt idx="1">
                  <c:v>140.07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2D-4110-97E0-7F275C9ACE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rgbClr val="FF9900">
                <a:alpha val="88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57.79M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E2D-4110-97E0-7F275C9ACEF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47.23M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E2D-4110-97E0-7F275C9ACEF2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57.79</c:v>
                </c:pt>
                <c:pt idx="1">
                  <c:v>47.23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2D-4110-97E0-7F275C9ACE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360547622225189"/>
          <c:y val="0.92124724219255194"/>
          <c:w val="0.51751597787564685"/>
          <c:h val="5.4598168435467304E-2"/>
        </c:manualLayout>
      </c:layout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6233B"/>
                </a:solidFill>
                <a:latin typeface="Calibri"/>
              </a:rPr>
              <a:t>Delivered Orders by Purchase Frequency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Orders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Occasional</c:v>
                </c:pt>
                <c:pt idx="1">
                  <c:v>Frequent</c:v>
                </c:pt>
                <c:pt idx="2">
                  <c:v>One-Time</c:v>
                </c:pt>
                <c:pt idx="3">
                  <c:v>Highly
Frequent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12296</c:v>
                </c:pt>
                <c:pt idx="1">
                  <c:v>5417</c:v>
                </c:pt>
                <c:pt idx="2">
                  <c:v>1214</c:v>
                </c:pt>
                <c:pt idx="3">
                  <c:v>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AA-4F7D-A84B-5EDF3DF920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US" sz="1300" b="0" i="0" u="none" strike="noStrike" dirty="0">
                <a:solidFill>
                  <a:srgbClr val="16233B"/>
                </a:solidFill>
                <a:latin typeface="Calibri"/>
              </a:rPr>
              <a:t>Sales by Customer Value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103.46M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B60-41C5-86AB-1D9523791AA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104.73M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B60-41C5-86AB-1D9523791AA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101.77M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B60-41C5-86AB-1D9523791AA6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Regular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103.46</c:v>
                </c:pt>
                <c:pt idx="1">
                  <c:v>104.73</c:v>
                </c:pt>
                <c:pt idx="2">
                  <c:v>101.77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7-4658-80AE-FFCAACE30A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6233B"/>
                </a:solidFill>
                <a:latin typeface="Calibri"/>
              </a:rPr>
              <a:t>Profit Margin % by Discount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39.32%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D9-4E69-B1A9-BE7415EF3D0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24.86%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073536860524017E-2"/>
                      <c:h val="4.109977324263038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1D9-4E69-B1A9-BE7415EF3D0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29.86%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D9-4E69-B1A9-BE7415EF3D0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30.92%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D9-4E69-B1A9-BE7415EF3D0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29.72%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D9-4E69-B1A9-BE7415EF3D08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
Discount</c:v>
                </c:pt>
                <c:pt idx="1">
                  <c:v>Low
Discount</c:v>
                </c:pt>
                <c:pt idx="2">
                  <c:v>Medium
Discount</c:v>
                </c:pt>
                <c:pt idx="3">
                  <c:v>High
Discount</c:v>
                </c:pt>
                <c:pt idx="4">
                  <c:v>Very High
Discount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39.32</c:v>
                </c:pt>
                <c:pt idx="1">
                  <c:v>24.86</c:v>
                </c:pt>
                <c:pt idx="2">
                  <c:v>29.86</c:v>
                </c:pt>
                <c:pt idx="3">
                  <c:v>30.92</c:v>
                </c:pt>
                <c:pt idx="4">
                  <c:v>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C7-477B-ABE7-B40AE045C5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6233B"/>
                </a:solidFill>
                <a:latin typeface="Calibri"/>
              </a:rPr>
              <a:t>Order Status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213B">
                  <a:alpha val="88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D1-478E-B7DB-809FD85ED9E9}"/>
              </c:ext>
            </c:extLst>
          </c:dPt>
          <c:dPt>
            <c:idx val="1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D1-478E-B7DB-809FD85ED9E9}"/>
              </c:ext>
            </c:extLst>
          </c:dPt>
          <c:dPt>
            <c:idx val="2"/>
            <c:bubble3D val="0"/>
            <c:spPr>
              <a:solidFill>
                <a:srgbClr val="8592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D1-478E-B7DB-809FD85ED9E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77.80%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AD1-478E-B7DB-809FD85ED9E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11.98%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AD1-478E-B7DB-809FD85ED9E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10.22%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AD1-478E-B7DB-809FD85ED9E9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Returned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77.8</c:v>
                </c:pt>
                <c:pt idx="1">
                  <c:v>11.98</c:v>
                </c:pt>
                <c:pt idx="2">
                  <c:v>10.220000000000001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D1-478E-B7DB-809FD85ED9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6233B"/>
                </a:solidFill>
                <a:latin typeface="Calibri"/>
              </a:rPr>
              <a:t>Return Reasons (2,907 recorded)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Returned Orders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Defective Product</c:v>
                </c:pt>
                <c:pt idx="1">
                  <c:v>Better Price Available</c:v>
                </c:pt>
                <c:pt idx="2">
                  <c:v>Size/Fit Issue</c:v>
                </c:pt>
                <c:pt idx="3">
                  <c:v>Wrong Item</c:v>
                </c:pt>
                <c:pt idx="4">
                  <c:v>Not as Described</c:v>
                </c:pt>
                <c:pt idx="5">
                  <c:v>Late Delivery</c:v>
                </c:pt>
                <c:pt idx="6">
                  <c:v>Changed Mind</c:v>
                </c:pt>
                <c:pt idx="7">
                  <c:v>Quality Not Satisfactory</c:v>
                </c:pt>
                <c:pt idx="8">
                  <c:v>Received Damaged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342</c:v>
                </c:pt>
                <c:pt idx="1">
                  <c:v>336</c:v>
                </c:pt>
                <c:pt idx="2">
                  <c:v>335</c:v>
                </c:pt>
                <c:pt idx="3">
                  <c:v>334</c:v>
                </c:pt>
                <c:pt idx="4">
                  <c:v>318</c:v>
                </c:pt>
                <c:pt idx="5">
                  <c:v>318</c:v>
                </c:pt>
                <c:pt idx="6">
                  <c:v>316</c:v>
                </c:pt>
                <c:pt idx="7">
                  <c:v>313</c:v>
                </c:pt>
                <c:pt idx="8">
                  <c:v>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D7-4F27-B214-DA142D1682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39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927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2546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037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2018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045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598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206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626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422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797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719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62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dhanushnarla5@gmail.co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narladhanush03" TargetMode="External"/><Relationship Id="rId4" Type="http://schemas.openxmlformats.org/officeDocument/2006/relationships/hyperlink" Target="https://www.linkedin.com/in/dhanush-narla-95458128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2331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BUSINESS PERFORMANCE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Analyst Case Study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cleaning &amp; analysis  •  Excel MIS reporting  •  Power BI dashboarding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Narla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Jan 2023 – Dec 2025   |   Dataset: amazon_sales_dataset (synthetic)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F83E8B7-874F-2496-7E51-D0C348B7C3F1}"/>
              </a:ext>
            </a:extLst>
          </p:cNvPr>
          <p:cNvSpPr/>
          <p:nvPr/>
        </p:nvSpPr>
        <p:spPr>
          <a:xfrm>
            <a:off x="8348242" y="0"/>
            <a:ext cx="3843759" cy="3703321"/>
          </a:xfrm>
          <a:custGeom>
            <a:avLst/>
            <a:gdLst>
              <a:gd name="csX0" fmla="*/ 357464 w 3843759"/>
              <a:gd name="csY0" fmla="*/ 0 h 3703321"/>
              <a:gd name="csX1" fmla="*/ 3843759 w 3843759"/>
              <a:gd name="csY1" fmla="*/ 0 h 3703321"/>
              <a:gd name="csX2" fmla="*/ 3843759 w 3843759"/>
              <a:gd name="csY2" fmla="*/ 3206118 h 3703321"/>
              <a:gd name="csX3" fmla="*/ 3735563 w 3843759"/>
              <a:gd name="csY3" fmla="*/ 3288199 h 3703321"/>
              <a:gd name="csX4" fmla="*/ 2395959 w 3843759"/>
              <a:gd name="csY4" fmla="*/ 3703321 h 3703321"/>
              <a:gd name="csX5" fmla="*/ 0 w 3843759"/>
              <a:gd name="csY5" fmla="*/ 1272637 h 3703321"/>
              <a:gd name="csX6" fmla="*/ 289179 w 3843759"/>
              <a:gd name="csY6" fmla="*/ 114029 h 3703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43759" h="3703321">
                <a:moveTo>
                  <a:pt x="357464" y="0"/>
                </a:moveTo>
                <a:lnTo>
                  <a:pt x="3843759" y="0"/>
                </a:lnTo>
                <a:lnTo>
                  <a:pt x="3843759" y="3206118"/>
                </a:lnTo>
                <a:lnTo>
                  <a:pt x="3735563" y="3288199"/>
                </a:lnTo>
                <a:cubicBezTo>
                  <a:pt x="3353165" y="3550285"/>
                  <a:pt x="2892178" y="3703321"/>
                  <a:pt x="2395959" y="3703321"/>
                </a:cubicBezTo>
                <a:cubicBezTo>
                  <a:pt x="1072707" y="3703321"/>
                  <a:pt x="0" y="2615067"/>
                  <a:pt x="0" y="1272637"/>
                </a:cubicBezTo>
                <a:cubicBezTo>
                  <a:pt x="0" y="853128"/>
                  <a:pt x="104757" y="458440"/>
                  <a:pt x="289179" y="114029"/>
                </a:cubicBezTo>
                <a:close/>
              </a:path>
            </a:pathLst>
          </a:custGeom>
          <a:solidFill>
            <a:srgbClr val="C19A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69FFF8-0B94-3813-3A98-2DE7FC4E7B22}"/>
              </a:ext>
            </a:extLst>
          </p:cNvPr>
          <p:cNvSpPr/>
          <p:nvPr/>
        </p:nvSpPr>
        <p:spPr>
          <a:xfrm>
            <a:off x="9702768" y="2449878"/>
            <a:ext cx="2489232" cy="3238404"/>
          </a:xfrm>
          <a:custGeom>
            <a:avLst/>
            <a:gdLst>
              <a:gd name="csX0" fmla="*/ 1666272 w 2489232"/>
              <a:gd name="csY0" fmla="*/ 0 h 3238404"/>
              <a:gd name="csX1" fmla="*/ 2460516 w 2489232"/>
              <a:gd name="csY1" fmla="*/ 195429 h 3238404"/>
              <a:gd name="csX2" fmla="*/ 2489232 w 2489232"/>
              <a:gd name="csY2" fmla="*/ 212381 h 3238404"/>
              <a:gd name="csX3" fmla="*/ 2489232 w 2489232"/>
              <a:gd name="csY3" fmla="*/ 3026023 h 3238404"/>
              <a:gd name="csX4" fmla="*/ 2460516 w 2489232"/>
              <a:gd name="csY4" fmla="*/ 3042975 h 3238404"/>
              <a:gd name="csX5" fmla="*/ 1666272 w 2489232"/>
              <a:gd name="csY5" fmla="*/ 3238404 h 3238404"/>
              <a:gd name="csX6" fmla="*/ 0 w 2489232"/>
              <a:gd name="csY6" fmla="*/ 1619202 h 3238404"/>
              <a:gd name="csX7" fmla="*/ 1666272 w 2489232"/>
              <a:gd name="csY7" fmla="*/ 0 h 32384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89232" h="3238404">
                <a:moveTo>
                  <a:pt x="1666272" y="0"/>
                </a:moveTo>
                <a:cubicBezTo>
                  <a:pt x="1953852" y="0"/>
                  <a:pt x="2224417" y="70795"/>
                  <a:pt x="2460516" y="195429"/>
                </a:cubicBezTo>
                <a:lnTo>
                  <a:pt x="2489232" y="212381"/>
                </a:lnTo>
                <a:lnTo>
                  <a:pt x="2489232" y="3026023"/>
                </a:lnTo>
                <a:lnTo>
                  <a:pt x="2460516" y="3042975"/>
                </a:lnTo>
                <a:cubicBezTo>
                  <a:pt x="2224417" y="3167609"/>
                  <a:pt x="1953852" y="3238404"/>
                  <a:pt x="1666272" y="3238404"/>
                </a:cubicBezTo>
                <a:cubicBezTo>
                  <a:pt x="746015" y="3238404"/>
                  <a:pt x="0" y="2513463"/>
                  <a:pt x="0" y="1619202"/>
                </a:cubicBezTo>
                <a:cubicBezTo>
                  <a:pt x="0" y="724941"/>
                  <a:pt x="746015" y="0"/>
                  <a:pt x="1666272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needed one consolidated view of sales, profitability, customer behaviour, product performance, geography, delivery outcomes, and returns — spread across raw transactional data with no single source of truth.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28320" y="3657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turn a messy raw export into validated, decision-ready insight — and give management a single dashboard to act 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7059168" y="180136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0296" y="1797304"/>
            <a:ext cx="621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059168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059168" y="26791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sales and margin?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18320" y="160020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9619488" y="180136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 flipH="1">
            <a:off x="9500616" y="179273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619488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619488" y="26791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buys, and how often?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566160"/>
            <a:ext cx="2331720" cy="1737360"/>
          </a:xfrm>
          <a:prstGeom prst="roundRect">
            <a:avLst>
              <a:gd name="adj" fmla="val 596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59168" y="376732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 flipH="1">
            <a:off x="6976872" y="37673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059168" y="4279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059168" y="46451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we deliver?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35661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19488" y="376732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 flipH="1">
            <a:off x="9573768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619488" y="4279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619488" y="46451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orders coming back?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36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the raw dataset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overall sales, profit &amp; profitability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monthly sales and margin trends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categories, products &amp; cities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customer segments &amp; value tiers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delivery, returns &amp; cancellations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Excel MIS + Power BI dashboard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600200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C19A6C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AT A GLANCE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0664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 analyzed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0664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 (2023–2025)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06640" y="4480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• Excel • Power BI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0664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covers Delivered orders only; operational analysis covers all order statuses.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61032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19A6C">
              <a:alpha val="75000"/>
            </a:srgbClr>
          </a:solidFill>
          <a:ln w="12700">
            <a:solidFill>
              <a:srgbClr val="12213B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61032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234184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Profiling,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78352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73424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73424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46576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90744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85816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85816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98208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19A6C">
              <a:alpha val="75000"/>
            </a:srgbClr>
          </a:solidFill>
          <a:ln w="12700">
            <a:solidFill>
              <a:srgbClr val="12213B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98208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071360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MIS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5528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1060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19A6C">
              <a:alpha val="75000"/>
            </a:srgbClr>
          </a:solidFill>
          <a:ln w="12700">
            <a:solidFill>
              <a:srgbClr val="12213B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1060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68375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027920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22992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222992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feeds the next: SQL establishes a single validated source of truth, Excel reconciles the headline KPIs by hand, and Power BI turns the validated numbers into something management can explore on their own.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CLEANING &amp;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Trusted Dataset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033308"/>
              </p:ext>
            </p:extLst>
          </p:nvPr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A6C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 Identified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A6C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A6C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Raw records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25,250 rows loaded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250 exact duplicates found → removed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Unique orders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25,000 confirmed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Deduplicated and validated as the analysis base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Return reason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89 blanks on returned orders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Retained as NULL — reason genuinely unknown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Category / Payment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Inconsistent casing &amp; spacing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Standardized to a single clean label set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payment status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545 cancelled COD orders marked Refunded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Corrected to N/A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8987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Business rules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Sales, cost, profit vs. status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Verified: Delivered &gt; 0, Returned/Cancelled = 0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work was completed before any business analysis — not only to remove incorrect records, but to test whether blank, zero, or negative values reflected genuine business outcomes.</a:t>
            </a:r>
            <a:endParaRPr lang="en-US" sz="1150" dirty="0"/>
          </a:p>
        </p:txBody>
      </p:sp>
      <p:sp>
        <p:nvSpPr>
          <p:cNvPr id="4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19,450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₹309.96M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₹105.02M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33.88%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3756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11.98%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10.22%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1540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5256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8,448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8701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In Two Categories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98676766"/>
              </p:ext>
            </p:extLst>
          </p:nvPr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331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sales come from Electronics + Furniture alone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0" y="3200400"/>
            <a:ext cx="356616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(each ₹12.59M–₹17.70M in sales):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7947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Chair, Study Table, Sofa Set, Wardrobe, Wooden Bookshelf, Bed Frame, Smartphone, Laptop, Bluetooth Speaker, Router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257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stock-out or supplier delay in either top category would hit total revenue disproportionately hard.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588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Customers Drive Volume, Frequency Drives Depth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64743028"/>
              </p:ext>
            </p:extLst>
          </p:nvPr>
        </p:nvGraphicFramePr>
        <p:xfrm>
          <a:off x="548640" y="160020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978250854"/>
              </p:ext>
            </p:extLst>
          </p:nvPr>
        </p:nvGraphicFramePr>
        <p:xfrm>
          <a:off x="6217920" y="160020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currently generate more orders, sales and profit than Returning customers — the business leans on acquisition more than repeat purchasing. Occasional buyers are the single largest segment, ahead of Frequent, One-Time and Highly Frequent combined.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Is Heavily Concentrated in Regular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50808820"/>
              </p:ext>
            </p:extLst>
          </p:nvPr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802880" y="1618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5,271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802880" y="20299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— the largest tier by headcount, and by far the largest by value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02880" y="321129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even a small share of Regular customers would materially damage overall profit — retention here matters more than anywhere else.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Sales Don't Always Mean Higher Margin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54505700"/>
              </p:ext>
            </p:extLst>
          </p:nvPr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₹133.41M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 came with zero discount — and the best margin of any band, 39.32%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0" y="3108960"/>
            <a:ext cx="356616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291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₹137.48M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 came from the Very High Discount band — similar revenue, but margin fell to 29.70%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decisions should be judged on margin, not on the size of the sales number they produce.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 Orders Never Convert to Revenue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09345376"/>
              </p:ext>
            </p:extLst>
          </p:nvPr>
        </p:nvGraphicFramePr>
        <p:xfrm>
          <a:off x="548640" y="164592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602101307"/>
              </p:ext>
            </p:extLst>
          </p:nvPr>
        </p:nvGraphicFramePr>
        <p:xfrm>
          <a:off x="5760720" y="164592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return reason dominates — the top cause (Defective Product) is just 11.8% of recorded returns, with the rest spread almost evenly across pricing, fit, fulfilment, and delivery issues. This points to a broad, systemic issue rather than one fixable root cause.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Interactive Dashboard, Five Views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D7F92-8E11-49B9-E6FF-0D26A267B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28" y="1195849"/>
            <a:ext cx="9645143" cy="52963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More Pages Behind the Executive View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4" name="Image 0" descr="/home/claude/ppt_assets/dash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5394960" cy="23957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50208"/>
            <a:ext cx="5394960" cy="0"/>
          </a:xfrm>
          <a:prstGeom prst="rect">
            <a:avLst/>
          </a:prstGeom>
          <a:noFill/>
          <a:ln/>
        </p:spPr>
      </p:sp>
      <p:sp>
        <p:nvSpPr>
          <p:cNvPr id="6" name="Text 3"/>
          <p:cNvSpPr txBox="1"/>
          <p:nvPr/>
        </p:nvSpPr>
        <p:spPr>
          <a:xfrm>
            <a:off x="579120" y="367923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Product: Sales &amp; Profit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6217920" y="3950208"/>
            <a:ext cx="5394960" cy="0"/>
          </a:xfrm>
          <a:prstGeom prst="rect">
            <a:avLst/>
          </a:prstGeom>
          <a:noFill/>
          <a:ln/>
        </p:spPr>
      </p:sp>
      <p:sp>
        <p:nvSpPr>
          <p:cNvPr id="9" name="Text 5"/>
          <p:cNvSpPr txBox="1"/>
          <p:nvPr/>
        </p:nvSpPr>
        <p:spPr>
          <a:xfrm>
            <a:off x="6153912" y="367923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Image 2" descr="/home/claude/ppt_assets/dash_g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148033"/>
            <a:ext cx="5394960" cy="23957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6848856"/>
            <a:ext cx="5394960" cy="0"/>
          </a:xfrm>
          <a:prstGeom prst="rect">
            <a:avLst/>
          </a:prstGeom>
          <a:noFill/>
          <a:ln/>
        </p:spPr>
      </p:sp>
      <p:sp>
        <p:nvSpPr>
          <p:cNvPr id="12" name="Text 7"/>
          <p:cNvSpPr txBox="1"/>
          <p:nvPr/>
        </p:nvSpPr>
        <p:spPr>
          <a:xfrm>
            <a:off x="579120" y="65288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Regional Analysis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3" name="Image 3" descr="/home/claude/ppt_assets/dash_deliv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148033"/>
            <a:ext cx="5394960" cy="239572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7920" y="6848856"/>
            <a:ext cx="5394960" cy="0"/>
          </a:xfrm>
          <a:prstGeom prst="rect">
            <a:avLst/>
          </a:prstGeom>
          <a:noFill/>
          <a:ln/>
        </p:spPr>
      </p:sp>
      <p:sp>
        <p:nvSpPr>
          <p:cNvPr id="15" name="Text 9"/>
          <p:cNvSpPr txBox="1"/>
          <p:nvPr/>
        </p:nvSpPr>
        <p:spPr>
          <a:xfrm>
            <a:off x="6181344" y="654936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Returns &amp; Cancellations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DA62F1-A969-881C-E376-66A6627E0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311524"/>
            <a:ext cx="5333735" cy="2354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MIS &amp; VALIDATION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Reconciled Independently in Excel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4" name="Image 0" descr="/home/claude/ppt_assets/excel_m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766560" cy="4617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895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reconcile twice?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58952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produces the analysis; Excel independently re-derives the same KPIs using pivot tables. If the two don't match, something in the pipeline is wrong.</a:t>
            </a:r>
            <a:endParaRPr lang="en-US" sz="1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589520" y="3246120"/>
            <a:ext cx="374904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589520" y="3794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product, and headline KPI totals reconcile exactly between SQL and Excel — confirming the analysis logic is consistent across tools.</a:t>
            </a:r>
            <a:endParaRPr lang="en-US" sz="1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Management Should Do Next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8216" y="1818132"/>
            <a:ext cx="107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17320" y="17266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high-value categories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417320" y="205740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inventory, supplier reliability and margin protection for Electronics and Furniture.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417320" y="2697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occasional buyers into repeat customers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17320" y="3034792"/>
            <a:ext cx="9665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offers, loyalty rewards and personalized recommendations to shift the New→Returning balance.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417320" y="3703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returns by root cause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417320" y="406908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cause dominates — fix quality, fulfilment, sizing and descriptions in parallel, not one at a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4632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17320" y="4709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discounts on margin, not sales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417320" y="507492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category-level margin thresholds and test discount depth against actual profit impact.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5216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852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417320" y="5715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Premium customers above all else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417320" y="608076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drives 93% of profit — retention here outweighs almost any other initiative.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749040"/>
            <a:ext cx="3241040" cy="3097784"/>
          </a:xfrm>
          <a:prstGeom prst="ellipse">
            <a:avLst/>
          </a:prstGeom>
          <a:solidFill>
            <a:schemeClr val="bg1">
              <a:alpha val="8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Data Analyst Workflow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analyst workflow: SQL to profile, clean and validate; SQL again for detailed business analysis; Excel to reconcile the numbers independently; and Power BI to put it all in front of decision-makers. The business is profitable at a 33.88% margin — but revenue concentration, return/cancellation rates near 22%, and profit riding almost entirely on Premium customers are the areas that deserve the next round of attention.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398264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4270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(CTEs, joins, validation)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782312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65429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(pivot tables, MIS reconciliation)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503834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(DAX, dashboard design)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5550408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42239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QA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5934456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806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78240" y="1965960"/>
            <a:ext cx="2834640" cy="2743200"/>
          </a:xfrm>
          <a:prstGeom prst="roundRect">
            <a:avLst>
              <a:gd name="adj" fmla="val 3333"/>
            </a:avLst>
          </a:prstGeom>
          <a:solidFill>
            <a:schemeClr val="bg1">
              <a:alpha val="88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Narla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525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52560" y="3154680"/>
            <a:ext cx="2103120" cy="0"/>
          </a:xfrm>
          <a:prstGeom prst="line">
            <a:avLst/>
          </a:prstGeom>
          <a:noFill/>
          <a:ln w="12700">
            <a:solidFill>
              <a:srgbClr val="3A4B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3436951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dhanushnarla5@gmail.com</a:t>
            </a:r>
            <a:endParaRPr lang="en-US" sz="1200" dirty="0">
              <a:solidFill>
                <a:srgbClr val="C7D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7D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0525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LinkedIn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717</TotalTime>
  <Words>1232</Words>
  <Application>Microsoft Office PowerPoint</Application>
  <PresentationFormat>Widescreen</PresentationFormat>
  <Paragraphs>243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Narla</cp:lastModifiedBy>
  <cp:revision>7</cp:revision>
  <dcterms:created xsi:type="dcterms:W3CDTF">2026-09-12T10:31:07Z</dcterms:created>
  <dcterms:modified xsi:type="dcterms:W3CDTF">2026-10-27T07:58:48Z</dcterms:modified>
</cp:coreProperties>
</file>