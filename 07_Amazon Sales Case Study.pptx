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Slides/notesSlide9.xml" ContentType="application/vnd.openxmlformats-officedocument.presentationml.notesSlide+xml"/>
  <Override PartName="/ppt/charts/chart4.xml" ContentType="application/vnd.openxmlformats-officedocument.drawingml.chart+xml"/>
  <Override PartName="/ppt/notesSlides/notesSlide10.xml" ContentType="application/vnd.openxmlformats-officedocument.presentationml.notesSlide+xml"/>
  <Override PartName="/ppt/charts/chart5.xml" ContentType="application/vnd.openxmlformats-officedocument.drawingml.chart+xml"/>
  <Override PartName="/ppt/notesSlides/notesSlide11.xml" ContentType="application/vnd.openxmlformats-officedocument.presentationml.notes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19A6C"/>
    <a:srgbClr val="FF9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7" d="100"/>
          <a:sy n="77" d="100"/>
        </p:scale>
        <p:origin x="86" y="1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33B"/>
                </a:solidFill>
                <a:latin typeface="Calibri"/>
              </a:defRPr>
            </a:pPr>
            <a:r>
              <a:rPr lang="en-IN" sz="1300" b="0" i="0" u="none" strike="noStrike" dirty="0">
                <a:solidFill>
                  <a:srgbClr val="16233B"/>
                </a:solidFill>
                <a:latin typeface="Calibri"/>
              </a:rPr>
              <a:t>Sales by Category 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 (₹M)</c:v>
                </c:pt>
              </c:strCache>
            </c:strRef>
          </c:tx>
          <c:spPr>
            <a:solidFill>
              <a:srgbClr val="C19A6C">
                <a:alpha val="75000"/>
              </a:srgbClr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en-US" dirty="0"/>
                      <a:t>121.25M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7.7704678362573096E-2"/>
                      <c:h val="3.6342699809582622E-2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A-FCD7-4D54-8C15-9317A9558DAA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4492545C-CCCC-4BD2-BD87-1D8F99BD1602}" type="VALUE">
                      <a:rPr lang="en-US" smtClean="0"/>
                      <a:pPr/>
                      <a:t>[VALUE]</a:t>
                    </a:fld>
                    <a:r>
                      <a:rPr lang="en-US" dirty="0"/>
                      <a:t>2M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8.3187134502923962E-2"/>
                      <c:h val="3.6342699809582622E-2"/>
                    </c:manualLayout>
                  </c15:layout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9-FCD7-4D54-8C15-9317A9558DAA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dirty="0"/>
                      <a:t>28.87M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7.4040642123681902E-2"/>
                      <c:h val="3.6342699809582622E-2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8-FCD7-4D54-8C15-9317A9558DAA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/>
                      <a:t>18.45M</a:t>
                    </a:r>
                    <a:endParaRPr lang="en-US" dirty="0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FCD7-4D54-8C15-9317A9558DAA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/>
                      <a:t>11.96M</a:t>
                    </a:r>
                    <a:endParaRPr lang="en-US" dirty="0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FCD7-4D54-8C15-9317A9558DAA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/>
                      <a:t>8.05M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FCD7-4D54-8C15-9317A9558DAA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fld id="{32F1604F-3F2E-4CEE-8417-E79406179BB3}" type="VALUE">
                      <a:rPr lang="en-US" smtClean="0"/>
                      <a:pPr/>
                      <a:t>[VALUE]</a:t>
                    </a:fld>
                    <a:r>
                      <a:rPr lang="en-US"/>
                      <a:t>0M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4-FCD7-4D54-8C15-9317A9558DAA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/>
                      <a:t>5.92M</a:t>
                    </a:r>
                    <a:endParaRPr lang="en-US" dirty="0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FCD7-4D54-8C15-9317A9558DAA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rPr lang="en-US" dirty="0"/>
                      <a:t>3.98M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FCD7-4D54-8C15-9317A9558DAA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rPr lang="en-US" dirty="0"/>
                      <a:t>2.57M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FCD7-4D54-8C15-9317A9558DAA}"/>
                </c:ext>
              </c:extLst>
            </c:dLbl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623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Electronics</c:v>
                </c:pt>
                <c:pt idx="1">
                  <c:v>Furniture</c:v>
                </c:pt>
                <c:pt idx="2">
                  <c:v>Home &amp; Kitchen</c:v>
                </c:pt>
                <c:pt idx="3">
                  <c:v>Sports &amp; Fitness</c:v>
                </c:pt>
                <c:pt idx="4">
                  <c:v>Footwear</c:v>
                </c:pt>
                <c:pt idx="5">
                  <c:v>Toys &amp; Games</c:v>
                </c:pt>
                <c:pt idx="6">
                  <c:v>Clothing</c:v>
                </c:pt>
                <c:pt idx="7">
                  <c:v>Beauty &amp; Personal Care</c:v>
                </c:pt>
                <c:pt idx="8">
                  <c:v>Grocery</c:v>
                </c:pt>
                <c:pt idx="9">
                  <c:v>Books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121.25</c:v>
                </c:pt>
                <c:pt idx="1">
                  <c:v>102.62</c:v>
                </c:pt>
                <c:pt idx="2">
                  <c:v>28.87</c:v>
                </c:pt>
                <c:pt idx="3">
                  <c:v>18.45</c:v>
                </c:pt>
                <c:pt idx="4">
                  <c:v>11.96</c:v>
                </c:pt>
                <c:pt idx="5">
                  <c:v>8.0500000000000007</c:v>
                </c:pt>
                <c:pt idx="6">
                  <c:v>6.3</c:v>
                </c:pt>
                <c:pt idx="7">
                  <c:v>5.92</c:v>
                </c:pt>
                <c:pt idx="8">
                  <c:v>3.98</c:v>
                </c:pt>
                <c:pt idx="9">
                  <c:v>2.57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CD7-4D54-8C15-9317A9558DA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3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6233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solidFill>
          <a:srgbClr val="F6F7FA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6F7FA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6233B"/>
                </a:solidFill>
                <a:latin typeface="Calibri"/>
              </a:defRPr>
            </a:pPr>
            <a:r>
              <a:rPr lang="en-IN" sz="1250" b="0" i="0" u="none" strike="noStrike">
                <a:solidFill>
                  <a:srgbClr val="16233B"/>
                </a:solidFill>
                <a:latin typeface="Calibri"/>
              </a:rPr>
              <a:t>New vs Returning Customers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 (₹M)</c:v>
                </c:pt>
              </c:strCache>
            </c:strRef>
          </c:tx>
          <c:spPr>
            <a:solidFill>
              <a:srgbClr val="C19A6C">
                <a:alpha val="75000"/>
              </a:srgbClr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en-US"/>
                      <a:t>169.89M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9E2D-4110-97E0-7F275C9ACEF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/>
                      <a:t>140.07M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9E2D-4110-97E0-7F275C9ACEF2}"/>
                </c:ext>
              </c:extLst>
            </c:dLbl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623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New</c:v>
                </c:pt>
                <c:pt idx="1">
                  <c:v>Returning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169.89</c:v>
                </c:pt>
                <c:pt idx="1">
                  <c:v>140.07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E2D-4110-97E0-7F275C9ACEF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Profit (₹M)</c:v>
                </c:pt>
              </c:strCache>
            </c:strRef>
          </c:tx>
          <c:spPr>
            <a:solidFill>
              <a:srgbClr val="FF9900">
                <a:alpha val="88000"/>
              </a:srgbClr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en-US"/>
                      <a:t>57.79M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9E2D-4110-97E0-7F275C9ACEF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/>
                      <a:t>47.23M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9E2D-4110-97E0-7F275C9ACEF2}"/>
                </c:ext>
              </c:extLst>
            </c:dLbl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623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New</c:v>
                </c:pt>
                <c:pt idx="1">
                  <c:v>Returning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57.79</c:v>
                </c:pt>
                <c:pt idx="1">
                  <c:v>47.23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E2D-4110-97E0-7F275C9ACEF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6233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solidFill>
          <a:srgbClr val="F6F7FA"/>
        </a:solidFill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26360547622225189"/>
          <c:y val="0.92124724219255194"/>
          <c:w val="0.51751597787564685"/>
          <c:h val="5.4598168435467304E-2"/>
        </c:manualLayout>
      </c:layout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span"/>
    <c:showDLblsOverMax val="1"/>
  </c:chart>
  <c:spPr>
    <a:solidFill>
      <a:srgbClr val="F6F7FA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6233B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6233B"/>
                </a:solidFill>
                <a:latin typeface="Calibri"/>
              </a:rPr>
              <a:t>Delivered Orders by Purchase Frequency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Delivered Orders</c:v>
                </c:pt>
              </c:strCache>
            </c:strRef>
          </c:tx>
          <c:spPr>
            <a:solidFill>
              <a:srgbClr val="C19A6C">
                <a:alpha val="75000"/>
              </a:srgbClr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623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Occasional</c:v>
                </c:pt>
                <c:pt idx="1">
                  <c:v>Frequent</c:v>
                </c:pt>
                <c:pt idx="2">
                  <c:v>One-Time</c:v>
                </c:pt>
                <c:pt idx="3">
                  <c:v>Highly
Frequent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12296</c:v>
                </c:pt>
                <c:pt idx="1">
                  <c:v>5417</c:v>
                </c:pt>
                <c:pt idx="2">
                  <c:v>1214</c:v>
                </c:pt>
                <c:pt idx="3">
                  <c:v>523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2AA-4F7D-A84B-5EDF3DF920D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3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16233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solidFill>
          <a:srgbClr val="F6F7FA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6F7FA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33B"/>
                </a:solidFill>
                <a:latin typeface="Calibri"/>
              </a:defRPr>
            </a:pPr>
            <a:r>
              <a:rPr lang="en-US" sz="1300" b="0" i="0" u="none" strike="noStrike" dirty="0">
                <a:solidFill>
                  <a:srgbClr val="16233B"/>
                </a:solidFill>
                <a:latin typeface="Calibri"/>
              </a:rPr>
              <a:t>Sales by Customer Value Tier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 (₹M)</c:v>
                </c:pt>
              </c:strCache>
            </c:strRef>
          </c:tx>
          <c:spPr>
            <a:solidFill>
              <a:srgbClr val="C19A6C">
                <a:alpha val="75000"/>
              </a:srgbClr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en-US" dirty="0"/>
                      <a:t>103.46M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DB60-41C5-86AB-1D9523791AA6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/>
                      <a:t>104.73M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DB60-41C5-86AB-1D9523791AA6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/>
                      <a:t>101.77M</a:t>
                    </a:r>
                    <a:endParaRPr lang="en-US" dirty="0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DB60-41C5-86AB-1D9523791AA6}"/>
                </c:ext>
              </c:extLst>
            </c:dLbl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623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Budget</c:v>
                </c:pt>
                <c:pt idx="1">
                  <c:v>Regular</c:v>
                </c:pt>
                <c:pt idx="2">
                  <c:v>Premium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103.46</c:v>
                </c:pt>
                <c:pt idx="1">
                  <c:v>104.73</c:v>
                </c:pt>
                <c:pt idx="2">
                  <c:v>101.77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107-4658-80AE-FFCAACE30A0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6233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solidFill>
          <a:srgbClr val="F6F7FA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6F7FA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33B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6233B"/>
                </a:solidFill>
                <a:latin typeface="Calibri"/>
              </a:rPr>
              <a:t>Profit Margin % by Discount Band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Profit Margin %</c:v>
                </c:pt>
              </c:strCache>
            </c:strRef>
          </c:tx>
          <c:spPr>
            <a:solidFill>
              <a:srgbClr val="C19A6C">
                <a:alpha val="75000"/>
              </a:srgbClr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en-US"/>
                      <a:t>39.32%</a:t>
                    </a:r>
                    <a:endParaRPr lang="en-US" dirty="0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81D9-4E69-B1A9-BE7415EF3D08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dirty="0"/>
                      <a:t>24.86%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8.4073536860524017E-2"/>
                      <c:h val="4.1099773242630387E-2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1-81D9-4E69-B1A9-BE7415EF3D08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/>
                      <a:t>29.86%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81D9-4E69-B1A9-BE7415EF3D08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/>
                      <a:t>30.92%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81D9-4E69-B1A9-BE7415EF3D08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/>
                      <a:t>29.72%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81D9-4E69-B1A9-BE7415EF3D08}"/>
                </c:ext>
              </c:extLst>
            </c:dLbl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623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No
Discount</c:v>
                </c:pt>
                <c:pt idx="1">
                  <c:v>Low
Discount</c:v>
                </c:pt>
                <c:pt idx="2">
                  <c:v>Medium
Discount</c:v>
                </c:pt>
                <c:pt idx="3">
                  <c:v>High
Discount</c:v>
                </c:pt>
                <c:pt idx="4">
                  <c:v>Very High
Discount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39.32</c:v>
                </c:pt>
                <c:pt idx="1">
                  <c:v>24.86</c:v>
                </c:pt>
                <c:pt idx="2">
                  <c:v>29.86</c:v>
                </c:pt>
                <c:pt idx="3">
                  <c:v>30.92</c:v>
                </c:pt>
                <c:pt idx="4">
                  <c:v>29.7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AC7-477B-ABE7-B40AE045C53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3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16233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solidFill>
          <a:srgbClr val="F6F7FA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6F7FA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33B"/>
                </a:solidFill>
                <a:latin typeface="Calibri"/>
              </a:defRPr>
            </a:pPr>
            <a:r>
              <a:rPr lang="en-IN" sz="1300" b="0" i="0" u="none" strike="noStrike">
                <a:solidFill>
                  <a:srgbClr val="16233B"/>
                </a:solidFill>
                <a:latin typeface="Calibri"/>
              </a:rPr>
              <a:t>Order Status Share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2213B">
                  <a:alpha val="88000"/>
                </a:srgbClr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6AD1-478E-B7DB-809FD85ED9E9}"/>
              </c:ext>
            </c:extLst>
          </c:dPt>
          <c:dPt>
            <c:idx val="1"/>
            <c:bubble3D val="0"/>
            <c:spPr>
              <a:solidFill>
                <a:srgbClr val="FF990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6AD1-478E-B7DB-809FD85ED9E9}"/>
              </c:ext>
            </c:extLst>
          </c:dPt>
          <c:dPt>
            <c:idx val="2"/>
            <c:bubble3D val="0"/>
            <c:spPr>
              <a:solidFill>
                <a:srgbClr val="8592A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6AD1-478E-B7DB-809FD85ED9E9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pPr>
                      <a:defRPr sz="1000" b="0" i="0" u="none" strike="noStrike">
                        <a:solidFill>
                          <a:srgbClr val="FFFFFF"/>
                        </a:solidFill>
                        <a:latin typeface="Arial"/>
                      </a:defRPr>
                    </a:pPr>
                    <a:r>
                      <a:rPr lang="en-US" dirty="0"/>
                      <a:t>77.80%</a:t>
                    </a:r>
                  </a:p>
                </c:rich>
              </c:tx>
              <c:numFmt formatCode="0.0&quot;%&quot;" sourceLinked="0"/>
              <c:spPr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6AD1-478E-B7DB-809FD85ED9E9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pPr>
                      <a:defRPr sz="1000" b="0" i="0" u="none" strike="noStrike">
                        <a:solidFill>
                          <a:srgbClr val="FFFFFF"/>
                        </a:solidFill>
                        <a:latin typeface="Arial"/>
                      </a:defRPr>
                    </a:pPr>
                    <a:r>
                      <a:rPr lang="en-US" dirty="0"/>
                      <a:t>11.98%</a:t>
                    </a:r>
                  </a:p>
                </c:rich>
              </c:tx>
              <c:numFmt formatCode="0.0&quot;%&quot;" sourceLinked="0"/>
              <c:spPr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6AD1-478E-B7DB-809FD85ED9E9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pPr>
                      <a:defRPr sz="1000" b="0" i="0" u="none" strike="noStrike">
                        <a:solidFill>
                          <a:srgbClr val="FFFFFF"/>
                        </a:solidFill>
                        <a:latin typeface="Arial"/>
                      </a:defRPr>
                    </a:pPr>
                    <a:r>
                      <a:rPr lang="en-US" dirty="0"/>
                      <a:t>10.22%</a:t>
                    </a:r>
                  </a:p>
                </c:rich>
              </c:tx>
              <c:numFmt formatCode="0.0&quot;%&quot;" sourceLinked="0"/>
              <c:spPr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6AD1-478E-B7DB-809FD85ED9E9}"/>
                </c:ext>
              </c:extLst>
            </c:dLbl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Sheet1!$A$2:$A$4</c:f>
              <c:strCache>
                <c:ptCount val="3"/>
                <c:pt idx="0">
                  <c:v>Delivered</c:v>
                </c:pt>
                <c:pt idx="1">
                  <c:v>Returned</c:v>
                </c:pt>
                <c:pt idx="2">
                  <c:v>Cancelled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77.8</c:v>
                </c:pt>
                <c:pt idx="1">
                  <c:v>11.98</c:v>
                </c:pt>
                <c:pt idx="2">
                  <c:v>10.220000000000001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AD1-478E-B7DB-809FD85ED9E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/>
          </a:pPr>
          <a:endParaRPr lang="en-US"/>
        </a:p>
      </c:txPr>
    </c:legend>
    <c:plotVisOnly val="1"/>
    <c:dispBlanksAs val="span"/>
    <c:showDLblsOverMax val="1"/>
  </c:chart>
  <c:spPr>
    <a:solidFill>
      <a:srgbClr val="F6F7FA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33B"/>
                </a:solidFill>
                <a:latin typeface="Calibri"/>
              </a:defRPr>
            </a:pPr>
            <a:r>
              <a:rPr lang="en-IN" sz="1300" b="0" i="0" u="none" strike="noStrike">
                <a:solidFill>
                  <a:srgbClr val="16233B"/>
                </a:solidFill>
                <a:latin typeface="Calibri"/>
              </a:rPr>
              <a:t>Return Reasons (2,907 recorded)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Returned Orders</c:v>
                </c:pt>
              </c:strCache>
            </c:strRef>
          </c:tx>
          <c:spPr>
            <a:solidFill>
              <a:srgbClr val="C19A6C">
                <a:alpha val="75000"/>
              </a:srgbClr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 i="0" u="none" strike="noStrike">
                    <a:solidFill>
                      <a:srgbClr val="1623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Defective Product</c:v>
                </c:pt>
                <c:pt idx="1">
                  <c:v>Better Price Available</c:v>
                </c:pt>
                <c:pt idx="2">
                  <c:v>Size/Fit Issue</c:v>
                </c:pt>
                <c:pt idx="3">
                  <c:v>Wrong Item</c:v>
                </c:pt>
                <c:pt idx="4">
                  <c:v>Not as Described</c:v>
                </c:pt>
                <c:pt idx="5">
                  <c:v>Late Delivery</c:v>
                </c:pt>
                <c:pt idx="6">
                  <c:v>Changed Mind</c:v>
                </c:pt>
                <c:pt idx="7">
                  <c:v>Quality Not Satisfactory</c:v>
                </c:pt>
                <c:pt idx="8">
                  <c:v>Received Damaged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342</c:v>
                </c:pt>
                <c:pt idx="1">
                  <c:v>336</c:v>
                </c:pt>
                <c:pt idx="2">
                  <c:v>335</c:v>
                </c:pt>
                <c:pt idx="3">
                  <c:v>334</c:v>
                </c:pt>
                <c:pt idx="4">
                  <c:v>318</c:v>
                </c:pt>
                <c:pt idx="5">
                  <c:v>318</c:v>
                </c:pt>
                <c:pt idx="6">
                  <c:v>316</c:v>
                </c:pt>
                <c:pt idx="7">
                  <c:v>313</c:v>
                </c:pt>
                <c:pt idx="8">
                  <c:v>295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2D7-4F27-B214-DA142D16825B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2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16233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solidFill>
          <a:srgbClr val="F6F7FA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6F7F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753911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5092777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4254676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5603757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3201850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8304599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8259803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4220600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0162630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3742205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6979785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8071913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656298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04686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4" Type="http://schemas.openxmlformats.org/officeDocument/2006/relationships/chart" Target="../charts/char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4" Type="http://schemas.openxmlformats.org/officeDocument/2006/relationships/chart" Target="../charts/char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mailto:dhanushnarla5@gmail.com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5" Type="http://schemas.openxmlformats.org/officeDocument/2006/relationships/hyperlink" Target="https://github.com/narladhanush03" TargetMode="External"/><Relationship Id="rId4" Type="http://schemas.openxmlformats.org/officeDocument/2006/relationships/hyperlink" Target="https://www.linkedin.com/in/dhanush-narla-954581286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19A6C">
            <a:alpha val="75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822960" y="233172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300" dirty="0">
                <a:solidFill>
                  <a:schemeClr val="accent5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SALES &amp; BUSINESS PERFORMANCE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777240" y="269748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Data Analyst Case Study</a:t>
            </a:r>
            <a:endParaRPr lang="en-US" sz="4400" dirty="0">
              <a:solidFill>
                <a:schemeClr val="bg1"/>
              </a:solidFill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822960" y="36118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data cleaning &amp; analysis  •  Excel MIS reporting  •  Power BI dashboarding</a:t>
            </a:r>
            <a:endParaRPr lang="en-US" sz="16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822960" y="44805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Dhanush Narla</a:t>
            </a:r>
            <a:endParaRPr lang="en-US" sz="1500" dirty="0">
              <a:solidFill>
                <a:schemeClr val="bg1"/>
              </a:solidFill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822960" y="4846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Period: Jan 2023 – Dec 2025   |   Dataset: amazon_sales_dataset (synthetic)</a:t>
            </a:r>
            <a:endParaRPr lang="en-US" sz="1200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19A6C">
            <a:alpha val="75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chemeClr val="accent5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REQUIREMENTS</a:t>
            </a:r>
            <a:endParaRPr lang="en-US" sz="1200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Business Problem</a:t>
            </a:r>
            <a:endParaRPr lang="en-US" sz="3000" dirty="0">
              <a:solidFill>
                <a:schemeClr val="bg1"/>
              </a:solidFill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5943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needed one consolidated view of sales, profitability, customer behaviour, product performance, geography, delivery outcomes, and returns — spread across raw transactional data with no single source of truth.</a:t>
            </a:r>
            <a:endParaRPr lang="en-US" sz="16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28320" y="365760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goal: turn a messy raw export into validated, decision-ready insight — and give management a single dashboard to act on.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858000" y="1600200"/>
            <a:ext cx="2331720" cy="1737360"/>
          </a:xfrm>
          <a:prstGeom prst="roundRect">
            <a:avLst>
              <a:gd name="adj" fmla="val 4211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E1E5EE"/>
            </a:solidFill>
            <a:prstDash val="solid"/>
          </a:ln>
          <a:effectLst>
            <a:outerShdw blurRad="76200" dist="25400" dir="5400000" algn="bl" rotWithShape="0">
              <a:srgbClr val="AAAAAA">
                <a:alpha val="25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7" name="Shape 5"/>
          <p:cNvSpPr/>
          <p:nvPr/>
        </p:nvSpPr>
        <p:spPr>
          <a:xfrm>
            <a:off x="7059168" y="1801368"/>
            <a:ext cx="384048" cy="384048"/>
          </a:xfrm>
          <a:prstGeom prst="ellipse">
            <a:avLst/>
          </a:prstGeom>
          <a:solidFill>
            <a:srgbClr val="C19A6C">
              <a:alpha val="88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940296" y="1797304"/>
            <a:ext cx="621792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7059168" y="231343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&amp; Profit</a:t>
            </a:r>
            <a:endParaRPr lang="en-US" sz="14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7059168" y="2679192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drives sales and margin?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418320" y="1600200"/>
            <a:ext cx="2331720" cy="1737360"/>
          </a:xfrm>
          <a:prstGeom prst="roundRect">
            <a:avLst>
              <a:gd name="adj" fmla="val 4211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E1E5EE"/>
            </a:solidFill>
            <a:prstDash val="solid"/>
          </a:ln>
          <a:effectLst>
            <a:outerShdw blurRad="76200" dist="25400" dir="5400000" algn="bl" rotWithShape="0">
              <a:srgbClr val="AAAAAA">
                <a:alpha val="25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12" name="Shape 10"/>
          <p:cNvSpPr/>
          <p:nvPr/>
        </p:nvSpPr>
        <p:spPr>
          <a:xfrm>
            <a:off x="9619488" y="1801368"/>
            <a:ext cx="384048" cy="384048"/>
          </a:xfrm>
          <a:prstGeom prst="ellipse">
            <a:avLst/>
          </a:prstGeom>
          <a:solidFill>
            <a:srgbClr val="C19A6C">
              <a:alpha val="88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 flipH="1">
            <a:off x="9500616" y="1792732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9619488" y="231343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</a:t>
            </a:r>
            <a:endParaRPr lang="en-US" sz="14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9619488" y="2679192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buys, and how often?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0" y="3566160"/>
            <a:ext cx="2331720" cy="1737360"/>
          </a:xfrm>
          <a:prstGeom prst="roundRect">
            <a:avLst>
              <a:gd name="adj" fmla="val 5965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E1E5EE"/>
            </a:solidFill>
            <a:prstDash val="solid"/>
          </a:ln>
          <a:effectLst>
            <a:outerShdw blurRad="76200" dist="25400" dir="5400000" algn="bl" rotWithShape="0">
              <a:srgbClr val="AAAAAA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059168" y="3767328"/>
            <a:ext cx="384048" cy="384048"/>
          </a:xfrm>
          <a:prstGeom prst="ellipse">
            <a:avLst/>
          </a:prstGeom>
          <a:solidFill>
            <a:srgbClr val="C19A6C">
              <a:alpha val="8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 flipH="1">
            <a:off x="6976872" y="3767328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9" name="Text 17"/>
          <p:cNvSpPr txBox="1"/>
          <p:nvPr/>
        </p:nvSpPr>
        <p:spPr>
          <a:xfrm>
            <a:off x="7059168" y="427939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4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0" name="Text 18"/>
          <p:cNvSpPr txBox="1"/>
          <p:nvPr/>
        </p:nvSpPr>
        <p:spPr>
          <a:xfrm>
            <a:off x="7059168" y="4645152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well do we deliver?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418320" y="3566160"/>
            <a:ext cx="2331720" cy="1737360"/>
          </a:xfrm>
          <a:prstGeom prst="roundRect">
            <a:avLst>
              <a:gd name="adj" fmla="val 4211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E1E5EE"/>
            </a:solidFill>
            <a:prstDash val="solid"/>
          </a:ln>
          <a:effectLst>
            <a:outerShdw blurRad="76200" dist="25400" dir="5400000" algn="bl" rotWithShape="0">
              <a:srgbClr val="AAAAAA">
                <a:alpha val="2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619488" y="3767328"/>
            <a:ext cx="384048" cy="384048"/>
          </a:xfrm>
          <a:prstGeom prst="ellipse">
            <a:avLst/>
          </a:prstGeom>
          <a:solidFill>
            <a:srgbClr val="C19A6C">
              <a:alpha val="8800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 flipH="1">
            <a:off x="9573768" y="376732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24" name="Text 22"/>
          <p:cNvSpPr txBox="1"/>
          <p:nvPr/>
        </p:nvSpPr>
        <p:spPr>
          <a:xfrm>
            <a:off x="9619488" y="427939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</a:t>
            </a:r>
            <a:endParaRPr lang="en-US" sz="14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5" name="Text 23"/>
          <p:cNvSpPr txBox="1"/>
          <p:nvPr/>
        </p:nvSpPr>
        <p:spPr>
          <a:xfrm>
            <a:off x="9619488" y="4645152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are orders coming back?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58368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C7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REQUIREMENTS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 &amp; Scope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603504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and validate the raw dataset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overall sales, profit &amp; profitability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 monthly sales and margin trends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top categories, products &amp; cities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customer segments &amp; value tiers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delivery, returns &amp; cancellations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 Excel MIS + Power BI dashboard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7040880" y="1600200"/>
            <a:ext cx="4572000" cy="4297680"/>
          </a:xfrm>
          <a:prstGeom prst="roundRect">
            <a:avLst>
              <a:gd name="adj" fmla="val 2128"/>
            </a:avLst>
          </a:prstGeom>
          <a:solidFill>
            <a:srgbClr val="C19A6C">
              <a:alpha val="75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06640" y="18745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AT A GLANCE</a:t>
            </a:r>
            <a:endParaRPr lang="en-US" sz="1200" dirty="0">
              <a:solidFill>
                <a:srgbClr val="002060"/>
              </a:solidFill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7406640" y="23774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25,000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406640" y="28803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orders analyzed</a:t>
            </a:r>
            <a:endParaRPr lang="en-US" sz="12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7406640" y="342900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7406640" y="39319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of data (2023–2025)</a:t>
            </a:r>
            <a:endParaRPr lang="en-US" sz="12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7406640" y="448056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06640" y="49834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 SQL • Excel • Power BI</a:t>
            </a:r>
            <a:endParaRPr lang="en-US" sz="12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7406640" y="54864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i="1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analysis covers Delivered orders only; operational analysis covers all order statuses.</a:t>
            </a:r>
            <a:endParaRPr lang="en-US" sz="105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59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C7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End-to-End Workflow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468880"/>
            <a:ext cx="1417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E5EE"/>
            </a:solidFill>
            <a:prstDash val="solid"/>
          </a:ln>
          <a:effectLst>
            <a:outerShdw blurRad="63500" dist="25400" dir="5400000" algn="bl" rotWithShape="0">
              <a:srgbClr val="AAAAAA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257860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59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2834640"/>
            <a:ext cx="12710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</a:t>
            </a:r>
            <a:endParaRPr lang="en-US" sz="115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1965960" y="2468880"/>
            <a:ext cx="195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59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161032" y="2468880"/>
            <a:ext cx="1417320" cy="1371600"/>
          </a:xfrm>
          <a:prstGeom prst="roundRect">
            <a:avLst>
              <a:gd name="adj" fmla="val 6000"/>
            </a:avLst>
          </a:prstGeom>
          <a:solidFill>
            <a:srgbClr val="C19A6C">
              <a:alpha val="75000"/>
            </a:srgbClr>
          </a:solidFill>
          <a:ln w="12700">
            <a:solidFill>
              <a:srgbClr val="12213B"/>
            </a:solidFill>
            <a:prstDash val="solid"/>
          </a:ln>
          <a:effectLst>
            <a:outerShdw blurRad="63500" dist="25400" dir="5400000" algn="bl" rotWithShape="0">
              <a:srgbClr val="AAAAAA">
                <a:alpha val="2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2161032" y="257860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>
              <a:solidFill>
                <a:srgbClr val="002060"/>
              </a:solidFill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2234184" y="2834640"/>
            <a:ext cx="12710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Profiling,</a:t>
            </a:r>
            <a:endParaRPr lang="en-US" sz="115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Cleaning &amp;</a:t>
            </a:r>
            <a:endParaRPr lang="en-US" sz="115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3578352" y="2468880"/>
            <a:ext cx="195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59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3773424" y="2468880"/>
            <a:ext cx="1417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E5EE"/>
            </a:solidFill>
            <a:prstDash val="solid"/>
          </a:ln>
          <a:effectLst>
            <a:outerShdw blurRad="63500" dist="25400" dir="5400000" algn="bl" rotWithShape="0">
              <a:srgbClr val="AAAAAA">
                <a:alpha val="2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3773424" y="257860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59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846576" y="2834640"/>
            <a:ext cx="12710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Cleaned</a:t>
            </a:r>
            <a:endParaRPr lang="en-US" sz="115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190744" y="2468880"/>
            <a:ext cx="195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59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385816" y="2468880"/>
            <a:ext cx="1417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E5EE"/>
            </a:solidFill>
            <a:prstDash val="solid"/>
          </a:ln>
          <a:effectLst>
            <a:outerShdw blurRad="63500" dist="25400" dir="5400000" algn="bl" rotWithShape="0">
              <a:srgbClr val="AAAAAA">
                <a:alpha val="2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5385816" y="257860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59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458968" y="2834640"/>
            <a:ext cx="12710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Business</a:t>
            </a:r>
            <a:endParaRPr lang="en-US" sz="115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803136" y="2468880"/>
            <a:ext cx="195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59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6998208" y="2468880"/>
            <a:ext cx="1417320" cy="1371600"/>
          </a:xfrm>
          <a:prstGeom prst="roundRect">
            <a:avLst>
              <a:gd name="adj" fmla="val 6000"/>
            </a:avLst>
          </a:prstGeom>
          <a:solidFill>
            <a:srgbClr val="C19A6C">
              <a:alpha val="75000"/>
            </a:srgbClr>
          </a:solidFill>
          <a:ln w="12700">
            <a:solidFill>
              <a:srgbClr val="12213B"/>
            </a:solidFill>
            <a:prstDash val="solid"/>
          </a:ln>
          <a:effectLst>
            <a:outerShdw blurRad="63500" dist="25400" dir="5400000" algn="bl" rotWithShape="0">
              <a:srgbClr val="AAAAAA">
                <a:alpha val="2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998208" y="257860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>
              <a:solidFill>
                <a:srgbClr val="002060"/>
              </a:solidFill>
            </a:endParaRPr>
          </a:p>
        </p:txBody>
      </p:sp>
      <p:sp>
        <p:nvSpPr>
          <p:cNvPr id="22" name="Text 20"/>
          <p:cNvSpPr txBox="1"/>
          <p:nvPr/>
        </p:nvSpPr>
        <p:spPr>
          <a:xfrm>
            <a:off x="7071360" y="2834640"/>
            <a:ext cx="12710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MIS</a:t>
            </a:r>
            <a:endParaRPr lang="en-US" sz="115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Reconciliation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8415528" y="2468880"/>
            <a:ext cx="195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59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8610600" y="2468880"/>
            <a:ext cx="1417320" cy="1371600"/>
          </a:xfrm>
          <a:prstGeom prst="roundRect">
            <a:avLst>
              <a:gd name="adj" fmla="val 6000"/>
            </a:avLst>
          </a:prstGeom>
          <a:solidFill>
            <a:srgbClr val="C19A6C">
              <a:alpha val="75000"/>
            </a:srgbClr>
          </a:solidFill>
          <a:ln w="12700">
            <a:solidFill>
              <a:srgbClr val="12213B"/>
            </a:solidFill>
            <a:prstDash val="solid"/>
          </a:ln>
          <a:effectLst>
            <a:outerShdw blurRad="63500" dist="25400" dir="5400000" algn="bl" rotWithShape="0">
              <a:srgbClr val="AAAAAA">
                <a:alpha val="2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610600" y="257860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>
              <a:solidFill>
                <a:srgbClr val="002060"/>
              </a:solidFill>
            </a:endParaRPr>
          </a:p>
        </p:txBody>
      </p:sp>
      <p:sp>
        <p:nvSpPr>
          <p:cNvPr id="26" name="Text 24"/>
          <p:cNvSpPr txBox="1"/>
          <p:nvPr/>
        </p:nvSpPr>
        <p:spPr>
          <a:xfrm>
            <a:off x="8683752" y="2834640"/>
            <a:ext cx="12710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115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10027920" y="2468880"/>
            <a:ext cx="195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59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10222992" y="2468880"/>
            <a:ext cx="1417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E5EE"/>
            </a:solidFill>
            <a:prstDash val="solid"/>
          </a:ln>
          <a:effectLst>
            <a:outerShdw blurRad="63500" dist="25400" dir="5400000" algn="bl" rotWithShape="0">
              <a:srgbClr val="AAAAAA">
                <a:alpha val="22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10222992" y="257860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59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10296144" y="2834640"/>
            <a:ext cx="12710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 &amp;</a:t>
            </a:r>
            <a:endParaRPr lang="en-US" sz="115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44805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3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stage feeds the next: SQL establishes a single validated source of truth, Excel reconciles the headline KPIs by hand, and Power BI turns the validated numbers into something management can explore on their own.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59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C7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QUALITY, CLEANING &amp; VALIDATION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Raw Export to Trusted Dataset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0322098"/>
              </p:ext>
            </p:extLst>
          </p:nvPr>
        </p:nvGraphicFramePr>
        <p:xfrm>
          <a:off x="548640" y="1600200"/>
          <a:ext cx="11064240" cy="393192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55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Area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9A6C">
                        <a:alpha val="7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Issue Identified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9A6C">
                        <a:alpha val="7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Resolution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9A6C">
                        <a:alpha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5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6233B"/>
                          </a:solidFill>
                        </a:rPr>
                        <a:t>Raw records</a:t>
                      </a:r>
                      <a:endParaRPr lang="en-US" sz="1150" dirty="0"/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5B6B85"/>
                          </a:solidFill>
                        </a:rPr>
                        <a:t>25,250 rows loaded</a:t>
                      </a:r>
                      <a:endParaRPr lang="en-US" sz="1150" dirty="0"/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6233B"/>
                          </a:solidFill>
                        </a:rPr>
                        <a:t>250 exact duplicates found → removed</a:t>
                      </a:r>
                      <a:endParaRPr lang="en-US" sz="1150" dirty="0"/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5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6233B"/>
                          </a:solidFill>
                        </a:rPr>
                        <a:t>Unique orders</a:t>
                      </a:r>
                      <a:endParaRPr lang="en-US" sz="1150" dirty="0"/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5B6B85"/>
                          </a:solidFill>
                        </a:rPr>
                        <a:t>25,000 confirmed</a:t>
                      </a:r>
                      <a:endParaRPr lang="en-US" sz="1150" dirty="0"/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6233B"/>
                          </a:solidFill>
                        </a:rPr>
                        <a:t>Deduplicated and validated as the analysis base</a:t>
                      </a:r>
                      <a:endParaRPr lang="en-US" sz="1150" dirty="0"/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5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6233B"/>
                          </a:solidFill>
                        </a:rPr>
                        <a:t>Return reason</a:t>
                      </a:r>
                      <a:endParaRPr lang="en-US" sz="1150" dirty="0"/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5B6B85"/>
                          </a:solidFill>
                        </a:rPr>
                        <a:t>89 blanks on returned orders</a:t>
                      </a:r>
                      <a:endParaRPr lang="en-US" sz="1150" dirty="0"/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6233B"/>
                          </a:solidFill>
                        </a:rPr>
                        <a:t>Retained as NULL — reason genuinely unknown</a:t>
                      </a:r>
                      <a:endParaRPr lang="en-US" sz="1150" dirty="0"/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5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6233B"/>
                          </a:solidFill>
                        </a:rPr>
                        <a:t>Category / Payment</a:t>
                      </a:r>
                      <a:endParaRPr lang="en-US" sz="1150" dirty="0"/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5B6B85"/>
                          </a:solidFill>
                        </a:rPr>
                        <a:t>Inconsistent casing &amp; spacing</a:t>
                      </a:r>
                      <a:endParaRPr lang="en-US" sz="1150" dirty="0"/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6233B"/>
                          </a:solidFill>
                        </a:rPr>
                        <a:t>Standardized to a single clean label set</a:t>
                      </a:r>
                      <a:endParaRPr lang="en-US" sz="1150" dirty="0"/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5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6233B"/>
                          </a:solidFill>
                        </a:rPr>
                        <a:t>Business rules</a:t>
                      </a:r>
                      <a:endParaRPr lang="en-US" sz="1150" dirty="0"/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5B6B85"/>
                          </a:solidFill>
                        </a:rPr>
                        <a:t>Sales, cost, profit vs. status</a:t>
                      </a:r>
                      <a:endParaRPr lang="en-US" sz="1150" dirty="0"/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6233B"/>
                          </a:solidFill>
                        </a:rPr>
                        <a:t>Verified: Delivered &gt; 0, Returned/Cancelled = 0</a:t>
                      </a:r>
                      <a:endParaRPr lang="en-US" sz="1150" dirty="0"/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7150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Data-quality work was completed before any business analysis — not only to remove incorrect records, but to test whether blank, zero, or negative values reflected genuine business outcomes.</a:t>
            </a:r>
            <a:endParaRPr lang="en-US" sz="1150" dirty="0"/>
          </a:p>
        </p:txBody>
      </p:sp>
      <p:sp>
        <p:nvSpPr>
          <p:cNvPr id="4" name="Text 3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59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19A6C">
            <a:alpha val="75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PERFORMANCE</a:t>
            </a:r>
            <a:endParaRPr lang="en-US" sz="1200" dirty="0">
              <a:solidFill>
                <a:srgbClr val="002060"/>
              </a:solidFill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Business at a Glance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606040" cy="2148840"/>
          </a:xfrm>
          <a:prstGeom prst="roundRect">
            <a:avLst>
              <a:gd name="adj" fmla="val 3404"/>
            </a:avLst>
          </a:prstGeom>
          <a:solidFill>
            <a:schemeClr val="bg1">
              <a:alpha val="90000"/>
            </a:scheme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201168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9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25,000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9260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Orders</a:t>
            </a:r>
            <a:endParaRPr lang="en-US" sz="13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7" name="Shape 5"/>
          <p:cNvSpPr/>
          <p:nvPr/>
        </p:nvSpPr>
        <p:spPr>
          <a:xfrm>
            <a:off x="3337560" y="1691640"/>
            <a:ext cx="2606040" cy="2148840"/>
          </a:xfrm>
          <a:prstGeom prst="roundRect">
            <a:avLst>
              <a:gd name="adj" fmla="val 3404"/>
            </a:avLst>
          </a:prstGeom>
          <a:solidFill>
            <a:schemeClr val="bg1">
              <a:alpha val="90000"/>
            </a:scheme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74720" y="201168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9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19,450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29260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Orders</a:t>
            </a:r>
            <a:endParaRPr lang="en-US" sz="13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0" name="Shape 8"/>
          <p:cNvSpPr/>
          <p:nvPr/>
        </p:nvSpPr>
        <p:spPr>
          <a:xfrm>
            <a:off x="6126480" y="1691640"/>
            <a:ext cx="2606040" cy="2148840"/>
          </a:xfrm>
          <a:prstGeom prst="roundRect">
            <a:avLst>
              <a:gd name="adj" fmla="val 3404"/>
            </a:avLst>
          </a:prstGeom>
          <a:solidFill>
            <a:schemeClr val="bg1">
              <a:alpha val="90000"/>
            </a:scheme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263640" y="201168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9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₹309.96M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29260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Sales</a:t>
            </a:r>
            <a:endParaRPr lang="en-US" sz="13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Shape 11"/>
          <p:cNvSpPr/>
          <p:nvPr/>
        </p:nvSpPr>
        <p:spPr>
          <a:xfrm>
            <a:off x="8915400" y="1691640"/>
            <a:ext cx="2606040" cy="2148840"/>
          </a:xfrm>
          <a:prstGeom prst="roundRect">
            <a:avLst>
              <a:gd name="adj" fmla="val 3404"/>
            </a:avLst>
          </a:prstGeom>
          <a:solidFill>
            <a:schemeClr val="bg1">
              <a:alpha val="90000"/>
            </a:scheme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052560" y="201168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9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₹105.02M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9052560" y="29260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Profit</a:t>
            </a:r>
            <a:endParaRPr lang="en-US" sz="13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48640" y="4023360"/>
            <a:ext cx="2606040" cy="2148840"/>
          </a:xfrm>
          <a:prstGeom prst="roundRect">
            <a:avLst>
              <a:gd name="adj" fmla="val 3404"/>
            </a:avLst>
          </a:prstGeom>
          <a:solidFill>
            <a:schemeClr val="bg1">
              <a:alpha val="90000"/>
            </a:scheme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85800" y="434340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9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33.88%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525780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 Margin</a:t>
            </a:r>
            <a:endParaRPr lang="en-US" sz="13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9" name="Shape 17"/>
          <p:cNvSpPr/>
          <p:nvPr/>
        </p:nvSpPr>
        <p:spPr>
          <a:xfrm>
            <a:off x="3337560" y="4023360"/>
            <a:ext cx="2606040" cy="2148840"/>
          </a:xfrm>
          <a:prstGeom prst="roundRect">
            <a:avLst>
              <a:gd name="adj" fmla="val 3404"/>
            </a:avLst>
          </a:prstGeom>
          <a:solidFill>
            <a:schemeClr val="bg1">
              <a:alpha val="90000"/>
            </a:scheme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474720" y="434340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9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11.98%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3474720" y="525780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Rate</a:t>
            </a:r>
            <a:endParaRPr lang="en-US" sz="13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126480" y="4023360"/>
            <a:ext cx="2606040" cy="2148840"/>
          </a:xfrm>
          <a:prstGeom prst="roundRect">
            <a:avLst>
              <a:gd name="adj" fmla="val 3404"/>
            </a:avLst>
          </a:prstGeom>
          <a:solidFill>
            <a:schemeClr val="bg1">
              <a:alpha val="90000"/>
            </a:scheme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263640" y="434340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9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10.22%</a:t>
            </a:r>
            <a:endParaRPr lang="en-US" sz="2600" dirty="0"/>
          </a:p>
        </p:txBody>
      </p:sp>
      <p:sp>
        <p:nvSpPr>
          <p:cNvPr id="24" name="Text 22"/>
          <p:cNvSpPr txBox="1"/>
          <p:nvPr/>
        </p:nvSpPr>
        <p:spPr>
          <a:xfrm>
            <a:off x="6263640" y="525780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Cancellation Rate</a:t>
            </a:r>
            <a:endParaRPr lang="en-US" sz="13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5" name="Shape 23"/>
          <p:cNvSpPr/>
          <p:nvPr/>
        </p:nvSpPr>
        <p:spPr>
          <a:xfrm>
            <a:off x="8915400" y="4023360"/>
            <a:ext cx="2606040" cy="2148840"/>
          </a:xfrm>
          <a:prstGeom prst="roundRect">
            <a:avLst>
              <a:gd name="adj" fmla="val 3404"/>
            </a:avLst>
          </a:prstGeom>
          <a:solidFill>
            <a:schemeClr val="bg1">
              <a:alpha val="90000"/>
            </a:scheme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052560" y="434340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9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8,448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9052560" y="525780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Customers</a:t>
            </a:r>
            <a:endParaRPr lang="en-US" sz="13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8" name="Text 26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C7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BUSINESS ANALYSIS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38701" y="6583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Is Concentrated In Two Categories</a:t>
            </a:r>
            <a:endParaRPr lang="en-US" sz="3000" dirty="0"/>
          </a:p>
        </p:txBody>
      </p:sp>
      <p:graphicFrame>
        <p:nvGraphicFramePr>
          <p:cNvPr id="4" name="Chart 0"/>
          <p:cNvGraphicFramePr/>
          <p:nvPr>
            <p:extLst>
              <p:ext uri="{D42A27DB-BD31-4B8C-83A1-F6EECF244321}">
                <p14:modId xmlns:p14="http://schemas.microsoft.com/office/powerpoint/2010/main" val="2598676766"/>
              </p:ext>
            </p:extLst>
          </p:nvPr>
        </p:nvGraphicFramePr>
        <p:xfrm>
          <a:off x="548640" y="1554480"/>
          <a:ext cx="6949440" cy="4663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772400" y="17373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221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72.2%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7772400" y="23317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delivered sales come from Electronics + Furniture alone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72400" y="3200400"/>
            <a:ext cx="3566160" cy="0"/>
          </a:xfrm>
          <a:prstGeom prst="line">
            <a:avLst/>
          </a:prstGeom>
          <a:noFill/>
          <a:ln w="12700">
            <a:solidFill>
              <a:srgbClr val="E1E5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3383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products (each ₹12.59M–₹17.70M in sales):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3794760"/>
            <a:ext cx="3840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Chair, Study Table, Sofa Set, Wardrobe, Wooden Bookshelf, Bed Frame, Smartphone, Laptop, Bluetooth Speaker, Router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7772400" y="525780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i="1" dirty="0">
                <a:solidFill>
                  <a:srgbClr val="122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stock-out or supplier delay in either top category would hit total revenue disproportionately hard.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59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C7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BUSINESS ANALYSIS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58800" y="6583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New Customers Drive Volume, Frequency Drives Depth</a:t>
            </a:r>
            <a:endParaRPr lang="en-US" sz="3000" dirty="0"/>
          </a:p>
        </p:txBody>
      </p:sp>
      <p:graphicFrame>
        <p:nvGraphicFramePr>
          <p:cNvPr id="4" name="Chart 0"/>
          <p:cNvGraphicFramePr/>
          <p:nvPr>
            <p:extLst>
              <p:ext uri="{D42A27DB-BD31-4B8C-83A1-F6EECF244321}">
                <p14:modId xmlns:p14="http://schemas.microsoft.com/office/powerpoint/2010/main" val="1364743028"/>
              </p:ext>
            </p:extLst>
          </p:nvPr>
        </p:nvGraphicFramePr>
        <p:xfrm>
          <a:off x="548640" y="1600200"/>
          <a:ext cx="539496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" name="Chart 1"/>
          <p:cNvGraphicFramePr/>
          <p:nvPr>
            <p:extLst>
              <p:ext uri="{D42A27DB-BD31-4B8C-83A1-F6EECF244321}">
                <p14:modId xmlns:p14="http://schemas.microsoft.com/office/powerpoint/2010/main" val="2978250854"/>
              </p:ext>
            </p:extLst>
          </p:nvPr>
        </p:nvGraphicFramePr>
        <p:xfrm>
          <a:off x="6217920" y="1600200"/>
          <a:ext cx="539496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9893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customers currently generate more orders, sales and profit than Returning customers — the business leans on acquisition more than repeat purchasing. Occasional buyers are the single largest segment, ahead of Frequent, One-Time and Highly Frequent combined.</a:t>
            </a:r>
            <a:endParaRPr lang="en-US" sz="1150" dirty="0"/>
          </a:p>
        </p:txBody>
      </p:sp>
      <p:sp>
        <p:nvSpPr>
          <p:cNvPr id="7" name="Text 3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59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C7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BUSINESS ANALYSIS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Value Is Heavily Concentrated in Premium</a:t>
            </a:r>
            <a:endParaRPr lang="en-US" sz="3000" dirty="0"/>
          </a:p>
        </p:txBody>
      </p:sp>
      <p:graphicFrame>
        <p:nvGraphicFramePr>
          <p:cNvPr id="4" name="Chart 0"/>
          <p:cNvGraphicFramePr/>
          <p:nvPr>
            <p:extLst>
              <p:ext uri="{D42A27DB-BD31-4B8C-83A1-F6EECF244321}">
                <p14:modId xmlns:p14="http://schemas.microsoft.com/office/powerpoint/2010/main" val="1750808820"/>
              </p:ext>
            </p:extLst>
          </p:nvPr>
        </p:nvGraphicFramePr>
        <p:xfrm>
          <a:off x="548640" y="1600200"/>
          <a:ext cx="694944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772400" y="17373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221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92.9%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7772400" y="233172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delivered profit (₹98.23M of ₹105.02M) comes from the Premium tier alone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72400" y="3337560"/>
            <a:ext cx="3566160" cy="0"/>
          </a:xfrm>
          <a:prstGeom prst="line">
            <a:avLst/>
          </a:prstGeom>
          <a:noFill/>
          <a:ln w="12700">
            <a:solidFill>
              <a:srgbClr val="E1E5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35204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1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4,196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397764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customers — the largest tier by headcount, and by far the largest by value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7772400" y="50292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i="1" dirty="0">
                <a:solidFill>
                  <a:srgbClr val="122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Losing even a small share of Premium customers would materially damage overall profit — retention here matters more than anywhere else.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59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C7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BUSINESS ANALYSIS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Higher Sales Don't Always Mean Higher Margin</a:t>
            </a:r>
            <a:endParaRPr lang="en-US" sz="3000" dirty="0"/>
          </a:p>
        </p:txBody>
      </p:sp>
      <p:graphicFrame>
        <p:nvGraphicFramePr>
          <p:cNvPr id="4" name="Chart 0"/>
          <p:cNvGraphicFramePr/>
          <p:nvPr>
            <p:extLst>
              <p:ext uri="{D42A27DB-BD31-4B8C-83A1-F6EECF244321}">
                <p14:modId xmlns:p14="http://schemas.microsoft.com/office/powerpoint/2010/main" val="3854505700"/>
              </p:ext>
            </p:extLst>
          </p:nvPr>
        </p:nvGraphicFramePr>
        <p:xfrm>
          <a:off x="548640" y="1600200"/>
          <a:ext cx="694944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772400" y="173736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221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₹133.41M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7772400" y="224028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sales came with zero discount — and the best margin of any band, 39.32%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7772400" y="3108960"/>
            <a:ext cx="3566160" cy="0"/>
          </a:xfrm>
          <a:prstGeom prst="line">
            <a:avLst/>
          </a:prstGeom>
          <a:noFill/>
          <a:ln w="12700">
            <a:solidFill>
              <a:srgbClr val="E1E5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32918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C7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₹137.48M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379476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sales came from the Very High Discount band — similar revenue, but margin fell to 29.70%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7772400" y="507492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i="1" dirty="0">
                <a:solidFill>
                  <a:srgbClr val="122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Discounting decisions should be judged on margin, not on the size of the sales number they produce.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59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C7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BUSINESS ANALYSIS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in 5 Orders Never Convert to Revenue</a:t>
            </a:r>
            <a:endParaRPr lang="en-US" sz="3000" dirty="0"/>
          </a:p>
        </p:txBody>
      </p:sp>
      <p:graphicFrame>
        <p:nvGraphicFramePr>
          <p:cNvPr id="4" name="Chart 0"/>
          <p:cNvGraphicFramePr/>
          <p:nvPr>
            <p:extLst>
              <p:ext uri="{D42A27DB-BD31-4B8C-83A1-F6EECF244321}">
                <p14:modId xmlns:p14="http://schemas.microsoft.com/office/powerpoint/2010/main" val="2809345376"/>
              </p:ext>
            </p:extLst>
          </p:nvPr>
        </p:nvGraphicFramePr>
        <p:xfrm>
          <a:off x="548640" y="1645920"/>
          <a:ext cx="493776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" name="Chart 1"/>
          <p:cNvGraphicFramePr/>
          <p:nvPr>
            <p:extLst>
              <p:ext uri="{D42A27DB-BD31-4B8C-83A1-F6EECF244321}">
                <p14:modId xmlns:p14="http://schemas.microsoft.com/office/powerpoint/2010/main" val="2602101307"/>
              </p:ext>
            </p:extLst>
          </p:nvPr>
        </p:nvGraphicFramePr>
        <p:xfrm>
          <a:off x="5760720" y="1645920"/>
          <a:ext cx="585216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603504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return reason dominates — the top cause (Defective Product) is just 11.8% of recorded returns, with the rest spread almost evenly across pricing, fit, fulfilment, and delivery issues. This points to a broad, systemic issue rather than one fixable root cause.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59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19A6C">
            <a:alpha val="75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chemeClr val="accent5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DASHBOARD</a:t>
            </a:r>
            <a:endParaRPr lang="en-US" sz="1200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Interactive Dashboard, Five Views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>
              <a:solidFill>
                <a:schemeClr val="bg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95D7F92-8E11-49B9-E6FF-0D26A267B2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3428" y="1195849"/>
            <a:ext cx="9645143" cy="529639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19A6C">
            <a:alpha val="75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chemeClr val="accent5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DASHBOARD</a:t>
            </a:r>
            <a:endParaRPr lang="en-US" sz="1200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More Pages Behind the Executive View</a:t>
            </a:r>
            <a:endParaRPr lang="en-US" sz="3000" dirty="0">
              <a:solidFill>
                <a:schemeClr val="bg1"/>
              </a:solidFill>
            </a:endParaRPr>
          </a:p>
        </p:txBody>
      </p:sp>
      <p:pic>
        <p:nvPicPr>
          <p:cNvPr id="4" name="Image 0" descr="/home/claude/ppt_assets/dash_categ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98448"/>
            <a:ext cx="5394960" cy="23957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3950208"/>
            <a:ext cx="5394960" cy="0"/>
          </a:xfrm>
          <a:prstGeom prst="rect">
            <a:avLst/>
          </a:prstGeom>
          <a:noFill/>
          <a:ln/>
        </p:spPr>
      </p:sp>
      <p:sp>
        <p:nvSpPr>
          <p:cNvPr id="6" name="Text 3"/>
          <p:cNvSpPr txBox="1"/>
          <p:nvPr/>
        </p:nvSpPr>
        <p:spPr>
          <a:xfrm>
            <a:off x="579120" y="3679231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&amp; Product: Sales &amp; Profit</a:t>
            </a:r>
            <a:endParaRPr lang="en-US" sz="12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8" name="Shape 4"/>
          <p:cNvSpPr/>
          <p:nvPr/>
        </p:nvSpPr>
        <p:spPr>
          <a:xfrm>
            <a:off x="6217920" y="3950208"/>
            <a:ext cx="5394960" cy="0"/>
          </a:xfrm>
          <a:prstGeom prst="rect">
            <a:avLst/>
          </a:prstGeom>
          <a:noFill/>
          <a:ln/>
        </p:spPr>
      </p:sp>
      <p:sp>
        <p:nvSpPr>
          <p:cNvPr id="9" name="Text 5"/>
          <p:cNvSpPr txBox="1"/>
          <p:nvPr/>
        </p:nvSpPr>
        <p:spPr>
          <a:xfrm>
            <a:off x="6153912" y="3679231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Insights</a:t>
            </a:r>
            <a:endParaRPr lang="en-US" sz="1200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10" name="Image 2" descr="/home/claude/ppt_assets/dash_ge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8" y="4148033"/>
            <a:ext cx="5394960" cy="2395728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548640" y="6848856"/>
            <a:ext cx="5394960" cy="0"/>
          </a:xfrm>
          <a:prstGeom prst="rect">
            <a:avLst/>
          </a:prstGeom>
          <a:noFill/>
          <a:ln/>
        </p:spPr>
      </p:sp>
      <p:sp>
        <p:nvSpPr>
          <p:cNvPr id="12" name="Text 7"/>
          <p:cNvSpPr txBox="1"/>
          <p:nvPr/>
        </p:nvSpPr>
        <p:spPr>
          <a:xfrm>
            <a:off x="579120" y="6528816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&amp; Regional Analysis</a:t>
            </a:r>
            <a:endParaRPr lang="en-US" sz="1200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13" name="Image 3" descr="/home/claude/ppt_assets/dash_delive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53912" y="4148033"/>
            <a:ext cx="5394960" cy="2395728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217920" y="6848856"/>
            <a:ext cx="5394960" cy="0"/>
          </a:xfrm>
          <a:prstGeom prst="rect">
            <a:avLst/>
          </a:prstGeom>
          <a:noFill/>
          <a:ln/>
        </p:spPr>
      </p:sp>
      <p:sp>
        <p:nvSpPr>
          <p:cNvPr id="15" name="Text 9"/>
          <p:cNvSpPr txBox="1"/>
          <p:nvPr/>
        </p:nvSpPr>
        <p:spPr>
          <a:xfrm>
            <a:off x="6181344" y="6549365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Delivery, Returns &amp; Cancellations</a:t>
            </a:r>
            <a:endParaRPr lang="en-US" sz="12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6" name="Text 10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>
              <a:solidFill>
                <a:schemeClr val="bg1"/>
              </a:solidFill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5DDA62F1-A969-881C-E376-66A6627E0CB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3912" y="1311524"/>
            <a:ext cx="5333735" cy="235463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19A6C">
            <a:alpha val="75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chemeClr val="accent5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MIS &amp; VALIDATION</a:t>
            </a:r>
            <a:endParaRPr lang="en-US" sz="1200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Reconciled Independently in Excel</a:t>
            </a:r>
            <a:endParaRPr lang="en-US" sz="3000" dirty="0">
              <a:solidFill>
                <a:schemeClr val="bg1"/>
              </a:solidFill>
            </a:endParaRPr>
          </a:p>
        </p:txBody>
      </p:sp>
      <p:pic>
        <p:nvPicPr>
          <p:cNvPr id="4" name="Image 0" descr="/home/claude/ppt_assets/excel_m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54480"/>
            <a:ext cx="6766560" cy="4617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589520" y="16459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reconcile twice?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6" name="Text 3"/>
          <p:cNvSpPr txBox="1"/>
          <p:nvPr/>
        </p:nvSpPr>
        <p:spPr>
          <a:xfrm>
            <a:off x="7589520" y="2103120"/>
            <a:ext cx="4023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produces the analysis; Excel independently re-derives the same KPIs using pivot tables. If the two don't match, something in the pipeline is wrong.</a:t>
            </a:r>
            <a:endParaRPr lang="en-US" sz="125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7" name="Shape 4"/>
          <p:cNvSpPr/>
          <p:nvPr/>
        </p:nvSpPr>
        <p:spPr>
          <a:xfrm>
            <a:off x="7589520" y="3246120"/>
            <a:ext cx="3749040" cy="0"/>
          </a:xfrm>
          <a:prstGeom prst="line">
            <a:avLst/>
          </a:prstGeom>
          <a:noFill/>
          <a:ln w="12700">
            <a:solidFill>
              <a:srgbClr val="E1E5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589520" y="34290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7589520" y="379476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Category, product, and headline KPI totals reconcile exactly between SQL and Excel — confirming the analysis logic is consistent across tools.</a:t>
            </a:r>
            <a:endParaRPr lang="en-US" sz="125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0" name="Text 7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19A6C">
            <a:alpha val="75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chemeClr val="accent5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</a:t>
            </a:r>
            <a:endParaRPr lang="en-US" sz="1200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Management Should Do Next</a:t>
            </a:r>
            <a:endParaRPr lang="en-US" sz="3000" dirty="0">
              <a:solidFill>
                <a:schemeClr val="bg1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896112"/>
          </a:xfrm>
          <a:prstGeom prst="roundRect">
            <a:avLst>
              <a:gd name="adj" fmla="val 7143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E1E5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28800"/>
            <a:ext cx="438912" cy="438912"/>
          </a:xfrm>
          <a:prstGeom prst="ellipse">
            <a:avLst/>
          </a:prstGeom>
          <a:solidFill>
            <a:srgbClr val="C19A6C">
              <a:alpha val="75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58216" y="1818132"/>
            <a:ext cx="1076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1417320" y="1726692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high-value categories</a:t>
            </a:r>
            <a:endParaRPr lang="en-US" sz="14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1417320" y="2057400"/>
            <a:ext cx="9966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 inventory, supplier reliability and margin protection for Electronics and Furniture.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606040"/>
            <a:ext cx="11064240" cy="896112"/>
          </a:xfrm>
          <a:prstGeom prst="roundRect">
            <a:avLst>
              <a:gd name="adj" fmla="val 7143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E1E5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2834640"/>
            <a:ext cx="438912" cy="438912"/>
          </a:xfrm>
          <a:prstGeom prst="ellipse">
            <a:avLst/>
          </a:prstGeom>
          <a:solidFill>
            <a:srgbClr val="C19A6C">
              <a:alpha val="75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28346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1417320" y="269748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occasional buyers into repeat customers</a:t>
            </a:r>
            <a:endParaRPr lang="en-US" sz="14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417320" y="3034792"/>
            <a:ext cx="9665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Post-purchase offers, loyalty rewards and personalized recommendations to shift the New→Returning balance.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611880"/>
            <a:ext cx="11064240" cy="896112"/>
          </a:xfrm>
          <a:prstGeom prst="roundRect">
            <a:avLst>
              <a:gd name="adj" fmla="val 7143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E1E5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3840480"/>
            <a:ext cx="438912" cy="438912"/>
          </a:xfrm>
          <a:prstGeom prst="ellipse">
            <a:avLst/>
          </a:prstGeom>
          <a:solidFill>
            <a:srgbClr val="C19A6C">
              <a:alpha val="75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77240" y="38404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1417320" y="370332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returns by root cause</a:t>
            </a:r>
            <a:endParaRPr lang="en-US" sz="14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1417320" y="4069080"/>
            <a:ext cx="9966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cause dominates — fix quality, fulfilment, sizing and descriptions in parallel, not one at a time.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4617720"/>
            <a:ext cx="11064240" cy="896112"/>
          </a:xfrm>
          <a:prstGeom prst="roundRect">
            <a:avLst>
              <a:gd name="adj" fmla="val 7143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E1E5E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4846320"/>
            <a:ext cx="438912" cy="438912"/>
          </a:xfrm>
          <a:prstGeom prst="ellipse">
            <a:avLst/>
          </a:prstGeom>
          <a:solidFill>
            <a:srgbClr val="C19A6C">
              <a:alpha val="75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7240" y="48371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22" name="Text 20"/>
          <p:cNvSpPr txBox="1"/>
          <p:nvPr/>
        </p:nvSpPr>
        <p:spPr>
          <a:xfrm>
            <a:off x="1417320" y="470916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discounts on margin, not sales</a:t>
            </a:r>
            <a:endParaRPr lang="en-US" sz="14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3" name="Text 21"/>
          <p:cNvSpPr txBox="1"/>
          <p:nvPr/>
        </p:nvSpPr>
        <p:spPr>
          <a:xfrm>
            <a:off x="1417320" y="5074920"/>
            <a:ext cx="9966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category-level margin thresholds and test discount depth against actual profit impact.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5623560"/>
            <a:ext cx="11064240" cy="896112"/>
          </a:xfrm>
          <a:prstGeom prst="roundRect">
            <a:avLst>
              <a:gd name="adj" fmla="val 7143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E1E5E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77240" y="5852160"/>
            <a:ext cx="438912" cy="438912"/>
          </a:xfrm>
          <a:prstGeom prst="ellipse">
            <a:avLst/>
          </a:prstGeom>
          <a:solidFill>
            <a:srgbClr val="C19A6C">
              <a:alpha val="7500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77240" y="58521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27" name="Text 25"/>
          <p:cNvSpPr txBox="1"/>
          <p:nvPr/>
        </p:nvSpPr>
        <p:spPr>
          <a:xfrm>
            <a:off x="1417320" y="571500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Premium customers above all else</a:t>
            </a:r>
            <a:endParaRPr lang="en-US" sz="14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8" name="Text 26"/>
          <p:cNvSpPr txBox="1"/>
          <p:nvPr/>
        </p:nvSpPr>
        <p:spPr>
          <a:xfrm>
            <a:off x="1417320" y="6080760"/>
            <a:ext cx="9966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tier drives 93% of profit — retention here outweighs almost any other initiative.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19A6C">
            <a:alpha val="75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749040"/>
            <a:ext cx="3241040" cy="3097784"/>
          </a:xfrm>
          <a:prstGeom prst="ellipse">
            <a:avLst/>
          </a:prstGeom>
          <a:solidFill>
            <a:schemeClr val="bg1">
              <a:alpha val="88000"/>
            </a:scheme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chemeClr val="accent5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200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822960" y="114300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End-to-End Data Analyst Workflow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965960"/>
            <a:ext cx="7498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 demonstrates a complete analyst workflow: SQL to profile, clean and validate; SQL again for detailed business analysis; Excel to reconcile the numbers independently; and Power BI to put it all in front of decision-makers. The business is profitable at a 33.88% margin — but revenue concentration, return/cancellation rates near 22%, and profit riding almost entirely on Premium customers are the areas that deserve the next round of attention.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6" name="Shape 4"/>
          <p:cNvSpPr/>
          <p:nvPr/>
        </p:nvSpPr>
        <p:spPr>
          <a:xfrm>
            <a:off x="822960" y="4398264"/>
            <a:ext cx="109728" cy="109728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97280" y="4270248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(CTEs, joins, validation)</a:t>
            </a:r>
            <a:endParaRPr lang="en-US" sz="125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822960" y="4782312"/>
            <a:ext cx="109728" cy="109728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97280" y="4654296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(pivot tables, MIS reconciliation)</a:t>
            </a:r>
            <a:endParaRPr lang="en-US" sz="125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0" name="Shape 8"/>
          <p:cNvSpPr/>
          <p:nvPr/>
        </p:nvSpPr>
        <p:spPr>
          <a:xfrm>
            <a:off x="822960" y="5166360"/>
            <a:ext cx="109728" cy="109728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97280" y="5038344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(DAX, dashboard design)</a:t>
            </a:r>
            <a:endParaRPr lang="en-US" sz="125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22960" y="5550408"/>
            <a:ext cx="109728" cy="109728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97280" y="542239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cleaning &amp; QA</a:t>
            </a:r>
            <a:endParaRPr lang="en-US" sz="125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4" name="Shape 12"/>
          <p:cNvSpPr/>
          <p:nvPr/>
        </p:nvSpPr>
        <p:spPr>
          <a:xfrm>
            <a:off x="822960" y="5934456"/>
            <a:ext cx="109728" cy="109728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97280" y="58064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storytelling</a:t>
            </a:r>
            <a:endParaRPr lang="en-US" sz="125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6" name="Shape 14"/>
          <p:cNvSpPr/>
          <p:nvPr/>
        </p:nvSpPr>
        <p:spPr>
          <a:xfrm>
            <a:off x="8778240" y="1965960"/>
            <a:ext cx="2834640" cy="2743200"/>
          </a:xfrm>
          <a:prstGeom prst="roundRect">
            <a:avLst>
              <a:gd name="adj" fmla="val 3333"/>
            </a:avLst>
          </a:prstGeom>
          <a:solidFill>
            <a:schemeClr val="bg1">
              <a:alpha val="88000"/>
            </a:scheme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052560" y="22860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Dhanush Narla</a:t>
            </a:r>
            <a:endParaRPr lang="en-US" sz="15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9052560" y="26517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Aspiring Data Analyst</a:t>
            </a:r>
            <a:endParaRPr lang="en-US" sz="115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9" name="Shape 17"/>
          <p:cNvSpPr/>
          <p:nvPr/>
        </p:nvSpPr>
        <p:spPr>
          <a:xfrm>
            <a:off x="9052560" y="3154680"/>
            <a:ext cx="2103120" cy="0"/>
          </a:xfrm>
          <a:prstGeom prst="line">
            <a:avLst/>
          </a:prstGeom>
          <a:noFill/>
          <a:ln w="12700">
            <a:solidFill>
              <a:srgbClr val="3A4B7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052560" y="3436951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7D0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/>
              </a:rPr>
              <a:t>dhanushnarla5@gmail.com</a:t>
            </a:r>
            <a:endParaRPr lang="en-US" sz="1200" dirty="0">
              <a:solidFill>
                <a:srgbClr val="C7D0E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n-US" sz="1200" dirty="0">
              <a:solidFill>
                <a:srgbClr val="C7D0E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21" name="Text 19"/>
          <p:cNvSpPr txBox="1"/>
          <p:nvPr/>
        </p:nvSpPr>
        <p:spPr>
          <a:xfrm>
            <a:off x="9052560" y="37490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7D0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/>
              </a:rPr>
              <a:t>LinkedIn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052560" y="41605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7D0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/>
              </a:rPr>
              <a:t>GitHub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691</TotalTime>
  <Words>1237</Words>
  <Application>Microsoft Office PowerPoint</Application>
  <PresentationFormat>Widescreen</PresentationFormat>
  <Paragraphs>242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Calibri Light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Dhanush Narla</cp:lastModifiedBy>
  <cp:revision>5</cp:revision>
  <dcterms:created xsi:type="dcterms:W3CDTF">2026-09-12T10:31:07Z</dcterms:created>
  <dcterms:modified xsi:type="dcterms:W3CDTF">2026-09-18T08:45:48Z</dcterms:modified>
</cp:coreProperties>
</file>