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charts/chart4.xml" ContentType="application/vnd.openxmlformats-officedocument.drawingml.chart+xml"/>
  <Override PartName="/ppt/notesSlides/notesSlide10.xml" ContentType="application/vnd.openxmlformats-officedocument.presentationml.notesSlide+xml"/>
  <Override PartName="/ppt/charts/chart5.xml" ContentType="application/vnd.openxmlformats-officedocument.drawingml.chart+xml"/>
  <Override PartName="/ppt/notesSlides/notesSlide11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9A6C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 dirty="0">
                <a:solidFill>
                  <a:srgbClr val="16233B"/>
                </a:solidFill>
                <a:latin typeface="Calibri"/>
              </a:rPr>
              <a:t>Sales by Category 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121.25M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704678362573096E-2"/>
                      <c:h val="3.634269980958262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A-FCD7-4D54-8C15-9317A9558DA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492545C-CCCC-4BD2-BD87-1D8F99BD1602}" type="VALUE">
                      <a:rPr lang="en-US" smtClean="0"/>
                      <a:pPr/>
                      <a:t>[VALUE]</a:t>
                    </a:fld>
                    <a:r>
                      <a:rPr lang="en-US" dirty="0"/>
                      <a:t>2M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3187134502923962E-2"/>
                      <c:h val="3.6342699809582622E-2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FCD7-4D54-8C15-9317A9558DA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28.87M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4040642123681902E-2"/>
                      <c:h val="3.6342699809582622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8-FCD7-4D54-8C15-9317A9558DAA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18.45M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FCD7-4D54-8C15-9317A9558DAA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11.96M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FCD7-4D54-8C15-9317A9558DAA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8.05M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FCD7-4D54-8C15-9317A9558DAA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fld id="{32F1604F-3F2E-4CEE-8417-E79406179BB3}" type="VALUE">
                      <a:rPr lang="en-US" smtClean="0"/>
                      <a:pPr/>
                      <a:t>[VALUE]</a:t>
                    </a:fld>
                    <a:r>
                      <a:rPr lang="en-US"/>
                      <a:t>0M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4-FCD7-4D54-8C15-9317A9558DAA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5.92M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FCD7-4D54-8C15-9317A9558DAA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3.98M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FCD7-4D54-8C15-9317A9558DAA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2.57M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FCD7-4D54-8C15-9317A9558DAA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Electronics</c:v>
                </c:pt>
                <c:pt idx="1">
                  <c:v>Furniture</c:v>
                </c:pt>
                <c:pt idx="2">
                  <c:v>Home &amp; Kitchen</c:v>
                </c:pt>
                <c:pt idx="3">
                  <c:v>Sports &amp; Fitness</c:v>
                </c:pt>
                <c:pt idx="4">
                  <c:v>Footwear</c:v>
                </c:pt>
                <c:pt idx="5">
                  <c:v>Toys &amp; Games</c:v>
                </c:pt>
                <c:pt idx="6">
                  <c:v>Clothing</c:v>
                </c:pt>
                <c:pt idx="7">
                  <c:v>Beauty &amp; Personal Care</c:v>
                </c:pt>
                <c:pt idx="8">
                  <c:v>Grocery</c:v>
                </c:pt>
                <c:pt idx="9">
                  <c:v>Books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121.25</c:v>
                </c:pt>
                <c:pt idx="1">
                  <c:v>102.62</c:v>
                </c:pt>
                <c:pt idx="2">
                  <c:v>28.87</c:v>
                </c:pt>
                <c:pt idx="3">
                  <c:v>18.45</c:v>
                </c:pt>
                <c:pt idx="4">
                  <c:v>11.96</c:v>
                </c:pt>
                <c:pt idx="5">
                  <c:v>8.0500000000000007</c:v>
                </c:pt>
                <c:pt idx="6">
                  <c:v>6.3</c:v>
                </c:pt>
                <c:pt idx="7">
                  <c:v>5.92</c:v>
                </c:pt>
                <c:pt idx="8">
                  <c:v>3.98</c:v>
                </c:pt>
                <c:pt idx="9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D7-4D54-8C15-9317A9558D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250" b="0" i="0" u="none" strike="noStrike">
                <a:solidFill>
                  <a:srgbClr val="16233B"/>
                </a:solidFill>
                <a:latin typeface="Calibri"/>
              </a:rPr>
              <a:t>New vs Returning Customers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169.89M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9E2D-4110-97E0-7F275C9ACE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140.07M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9E2D-4110-97E0-7F275C9ACEF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169.89</c:v>
                </c:pt>
                <c:pt idx="1">
                  <c:v>140.07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2D-4110-97E0-7F275C9ACE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Profit (₹M)</c:v>
                </c:pt>
              </c:strCache>
            </c:strRef>
          </c:tx>
          <c:spPr>
            <a:solidFill>
              <a:srgbClr val="FF9900">
                <a:alpha val="88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57.79M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9E2D-4110-97E0-7F275C9ACEF2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47.23M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9E2D-4110-97E0-7F275C9ACEF2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New</c:v>
                </c:pt>
                <c:pt idx="1">
                  <c:v>Returning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57.79</c:v>
                </c:pt>
                <c:pt idx="1">
                  <c:v>47.23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E2D-4110-97E0-7F275C9ACE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6360547622225189"/>
          <c:y val="0.92124724219255194"/>
          <c:w val="0.51751597787564685"/>
          <c:h val="5.4598168435467304E-2"/>
        </c:manualLayout>
      </c:layout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5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250" b="0" i="0" u="none" strike="noStrike">
                <a:solidFill>
                  <a:srgbClr val="16233B"/>
                </a:solidFill>
                <a:latin typeface="Calibri"/>
              </a:rPr>
              <a:t>Delivered Orders by Purchase Frequency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Orders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Occasional</c:v>
                </c:pt>
                <c:pt idx="1">
                  <c:v>Frequent</c:v>
                </c:pt>
                <c:pt idx="2">
                  <c:v>One-Time</c:v>
                </c:pt>
                <c:pt idx="3">
                  <c:v>Highly
Frequent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12296</c:v>
                </c:pt>
                <c:pt idx="1">
                  <c:v>5417</c:v>
                </c:pt>
                <c:pt idx="2">
                  <c:v>1214</c:v>
                </c:pt>
                <c:pt idx="3">
                  <c:v>523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AA-4F7D-A84B-5EDF3DF920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300" b="0" i="0" u="none" strike="noStrike" dirty="0">
                <a:solidFill>
                  <a:srgbClr val="16233B"/>
                </a:solidFill>
                <a:latin typeface="Calibri"/>
              </a:rPr>
              <a:t>Sales by Customer Value Tier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(₹M)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103.46M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B60-41C5-86AB-1D9523791AA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104.73M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DB60-41C5-86AB-1D9523791AA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101.77M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B60-41C5-86AB-1D9523791AA6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Budget</c:v>
                </c:pt>
                <c:pt idx="1">
                  <c:v>Regular</c:v>
                </c:pt>
                <c:pt idx="2">
                  <c:v>Premium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103.46</c:v>
                </c:pt>
                <c:pt idx="1">
                  <c:v>104.73</c:v>
                </c:pt>
                <c:pt idx="2">
                  <c:v>101.77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107-4658-80AE-FFCAACE30A0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US" sz="1300" b="0" i="0" u="none" strike="noStrike">
                <a:solidFill>
                  <a:srgbClr val="16233B"/>
                </a:solidFill>
                <a:latin typeface="Calibri"/>
              </a:rPr>
              <a:t>Profit Margin % by Discount Band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Margin %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39.32%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81D9-4E69-B1A9-BE7415EF3D0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24.86%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8.4073536860524017E-2"/>
                      <c:h val="4.1099773242630387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1D9-4E69-B1A9-BE7415EF3D0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29.86%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1D9-4E69-B1A9-BE7415EF3D08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30.92%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1D9-4E69-B1A9-BE7415EF3D08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29.72%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1D9-4E69-B1A9-BE7415EF3D08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
Discount</c:v>
                </c:pt>
                <c:pt idx="1">
                  <c:v>Low
Discount</c:v>
                </c:pt>
                <c:pt idx="2">
                  <c:v>Medium
Discount</c:v>
                </c:pt>
                <c:pt idx="3">
                  <c:v>High
Discount</c:v>
                </c:pt>
                <c:pt idx="4">
                  <c:v>Very High
Discount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39.32</c:v>
                </c:pt>
                <c:pt idx="1">
                  <c:v>24.86</c:v>
                </c:pt>
                <c:pt idx="2">
                  <c:v>29.86</c:v>
                </c:pt>
                <c:pt idx="3">
                  <c:v>30.92</c:v>
                </c:pt>
                <c:pt idx="4">
                  <c:v>29.7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C7-477B-ABE7-B40AE045C53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6233B"/>
                </a:solidFill>
                <a:latin typeface="Calibri"/>
              </a:rPr>
              <a:t>Order Status Share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2213B">
                  <a:alpha val="88000"/>
                </a:srgbClr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AD1-478E-B7DB-809FD85ED9E9}"/>
              </c:ext>
            </c:extLst>
          </c:dPt>
          <c:dPt>
            <c:idx val="1"/>
            <c:bubble3D val="0"/>
            <c:spPr>
              <a:solidFill>
                <a:srgbClr val="FF9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AD1-478E-B7DB-809FD85ED9E9}"/>
              </c:ext>
            </c:extLst>
          </c:dPt>
          <c:dPt>
            <c:idx val="2"/>
            <c:bubble3D val="0"/>
            <c:spPr>
              <a:solidFill>
                <a:srgbClr val="8592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AD1-478E-B7DB-809FD85ED9E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77.80%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6AD1-478E-B7DB-809FD85ED9E9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11.98%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6AD1-478E-B7DB-809FD85ED9E9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pPr>
                      <a:defRPr sz="1000" b="0" i="0" u="none" strike="noStrike">
                        <a:solidFill>
                          <a:srgbClr val="FFFFFF"/>
                        </a:solidFill>
                        <a:latin typeface="Arial"/>
                      </a:defRPr>
                    </a:pPr>
                    <a:r>
                      <a:rPr lang="en-US" dirty="0"/>
                      <a:t>10.22%</a:t>
                    </a:r>
                  </a:p>
                </c:rich>
              </c:tx>
              <c:numFmt formatCode="0.0&quot;%&quot;" sourceLinked="0"/>
              <c:spPr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6AD1-478E-B7DB-809FD85ED9E9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Returned</c:v>
                </c:pt>
                <c:pt idx="2">
                  <c:v>Cancelled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77.8</c:v>
                </c:pt>
                <c:pt idx="1">
                  <c:v>11.98</c:v>
                </c:pt>
                <c:pt idx="2">
                  <c:v>10.220000000000001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AD1-478E-B7DB-809FD85ED9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6233B"/>
                </a:solidFill>
                <a:latin typeface="Calibri"/>
              </a:defRPr>
            </a:pPr>
            <a:r>
              <a:rPr lang="en-IN" sz="1300" b="0" i="0" u="none" strike="noStrike">
                <a:solidFill>
                  <a:srgbClr val="16233B"/>
                </a:solidFill>
                <a:latin typeface="Calibri"/>
              </a:rPr>
              <a:t>Return Reasons (2,907 recorded)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Returned Orders</c:v>
                </c:pt>
              </c:strCache>
            </c:strRef>
          </c:tx>
          <c:spPr>
            <a:solidFill>
              <a:srgbClr val="C19A6C">
                <a:alpha val="75000"/>
              </a:srgbClr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3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Defective Product</c:v>
                </c:pt>
                <c:pt idx="1">
                  <c:v>Better Price Available</c:v>
                </c:pt>
                <c:pt idx="2">
                  <c:v>Size/Fit Issue</c:v>
                </c:pt>
                <c:pt idx="3">
                  <c:v>Wrong Item</c:v>
                </c:pt>
                <c:pt idx="4">
                  <c:v>Not as Described</c:v>
                </c:pt>
                <c:pt idx="5">
                  <c:v>Late Delivery</c:v>
                </c:pt>
                <c:pt idx="6">
                  <c:v>Changed Mind</c:v>
                </c:pt>
                <c:pt idx="7">
                  <c:v>Quality Not Satisfactory</c:v>
                </c:pt>
                <c:pt idx="8">
                  <c:v>Received Damaged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342</c:v>
                </c:pt>
                <c:pt idx="1">
                  <c:v>336</c:v>
                </c:pt>
                <c:pt idx="2">
                  <c:v>335</c:v>
                </c:pt>
                <c:pt idx="3">
                  <c:v>334</c:v>
                </c:pt>
                <c:pt idx="4">
                  <c:v>318</c:v>
                </c:pt>
                <c:pt idx="5">
                  <c:v>318</c:v>
                </c:pt>
                <c:pt idx="6">
                  <c:v>316</c:v>
                </c:pt>
                <c:pt idx="7">
                  <c:v>313</c:v>
                </c:pt>
                <c:pt idx="8">
                  <c:v>295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D7-4F27-B214-DA142D16825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1623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F6F7FA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6F7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391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092777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254676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6037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20185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304599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25980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2206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01626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74220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697978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719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629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9/18/2026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4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mailto:dhanushnarla5@gmail.com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5" Type="http://schemas.openxmlformats.org/officeDocument/2006/relationships/hyperlink" Target="https://github.com/narladhanush03" TargetMode="External"/><Relationship Id="rId4" Type="http://schemas.openxmlformats.org/officeDocument/2006/relationships/hyperlink" Target="https://www.linkedin.com/in/dhanush-narla-954581286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822960" y="233172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3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SALES &amp; BUSINESS PERFORMANCE</a:t>
            </a:r>
            <a:endParaRPr lang="en-US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 Analyst Case Study</a:t>
            </a:r>
            <a:endParaRPr lang="en-US" sz="44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36118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 cleaning &amp; analysis  •  Excel MIS reporting  •  Power BI dashboarding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2296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Narla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Period: Jan 2023 – Dec 2025   |   Dataset: amazon_sales_dataset (synthetic)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needed one consolidated view of sales, profitability, customer behaviour, product performance, geography, delivery outcomes, and returns — spread across raw transactional data with no single source of truth.</a:t>
            </a:r>
            <a:endParaRPr lang="en-US"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528320" y="3657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turn a messy raw export into validated, decision-ready insight — and give management a single dashboard to act 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600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7" name="Shape 5"/>
          <p:cNvSpPr/>
          <p:nvPr/>
        </p:nvSpPr>
        <p:spPr>
          <a:xfrm>
            <a:off x="7059168" y="180136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940296" y="1797304"/>
            <a:ext cx="621792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059168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Profit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059168" y="26791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sales and margin?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418320" y="160020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2" name="Shape 10"/>
          <p:cNvSpPr/>
          <p:nvPr/>
        </p:nvSpPr>
        <p:spPr>
          <a:xfrm>
            <a:off x="9619488" y="180136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13" name="Text 11"/>
          <p:cNvSpPr txBox="1"/>
          <p:nvPr/>
        </p:nvSpPr>
        <p:spPr>
          <a:xfrm flipH="1">
            <a:off x="9500616" y="1792732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9619488" y="231343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9619488" y="267919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buys, and how often?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3566160"/>
            <a:ext cx="2331720" cy="1737360"/>
          </a:xfrm>
          <a:prstGeom prst="roundRect">
            <a:avLst>
              <a:gd name="adj" fmla="val 5965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59168" y="376732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18" name="Text 16"/>
          <p:cNvSpPr txBox="1"/>
          <p:nvPr/>
        </p:nvSpPr>
        <p:spPr>
          <a:xfrm flipH="1">
            <a:off x="6976872" y="376732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7059168" y="4279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7059168" y="46451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do we deliver?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3566160"/>
            <a:ext cx="2331720" cy="1737360"/>
          </a:xfrm>
          <a:prstGeom prst="roundRect">
            <a:avLst>
              <a:gd name="adj" fmla="val 4211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  <a:effectLst>
            <a:outerShdw blurRad="76200" dist="25400" dir="5400000" algn="bl" rotWithShape="0">
              <a:srgbClr val="AAAAAA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19488" y="3767328"/>
            <a:ext cx="384048" cy="384048"/>
          </a:xfrm>
          <a:prstGeom prst="ellipse">
            <a:avLst/>
          </a:prstGeom>
          <a:solidFill>
            <a:srgbClr val="C19A6C">
              <a:alpha val="88000"/>
            </a:srgbClr>
          </a:solidFill>
          <a:ln/>
        </p:spPr>
      </p:sp>
      <p:sp>
        <p:nvSpPr>
          <p:cNvPr id="23" name="Text 21"/>
          <p:cNvSpPr txBox="1"/>
          <p:nvPr/>
        </p:nvSpPr>
        <p:spPr>
          <a:xfrm flipH="1">
            <a:off x="9573768" y="376732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9619488" y="4279392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9619488" y="4645152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orders coming back?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58368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 &amp; Scope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validate the raw dataset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overall sales, profit &amp; profitability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monthly sales and margin trends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 categories, products &amp; cities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customer segments &amp; value tiers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delivery, returns &amp; cancellations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45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Excel MIS + Power BI dashboard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040880" y="1600200"/>
            <a:ext cx="4572000" cy="4297680"/>
          </a:xfrm>
          <a:prstGeom prst="roundRect">
            <a:avLst>
              <a:gd name="adj" fmla="val 2128"/>
            </a:avLst>
          </a:prstGeom>
          <a:solidFill>
            <a:srgbClr val="C19A6C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06640" y="18745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AT A GLANCE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406640" y="23774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740664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orders analyzed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406640" y="342900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406640" y="3931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 (2023–2025)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406640" y="44805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4983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SQL • Excel • Power BI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406640" y="5486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 covers Delivered orders only; operational analysis covers all order statuses.</a:t>
            </a:r>
            <a:endParaRPr lang="en-US" sz="10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2179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61032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161032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2234184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Profiling,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578352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773424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773424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46576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190744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385816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385816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58968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803136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998208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998208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7071360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MIS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8415528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8610600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C19A6C">
              <a:alpha val="75000"/>
            </a:srgbClr>
          </a:solidFill>
          <a:ln w="12700">
            <a:solidFill>
              <a:srgbClr val="12213B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61060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>
              <a:solidFill>
                <a:srgbClr val="002060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8683752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027920" y="2468880"/>
            <a:ext cx="195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10222992" y="2468880"/>
            <a:ext cx="14173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E"/>
            </a:solidFill>
            <a:prstDash val="solid"/>
          </a:ln>
          <a:effectLst>
            <a:outerShdw blurRad="63500" dist="25400" dir="5400000" algn="bl" rotWithShape="0">
              <a:srgbClr val="AAAAAA">
                <a:alpha val="2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10222992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0296144" y="2834640"/>
            <a:ext cx="1271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&amp;</a:t>
            </a:r>
            <a:endParaRPr lang="en-US" sz="11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48056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3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feeds the next: SQL establishes a single validated source of truth, Excel reconciles the headline KPIs by hand, and Power BI turns the validated numbers into something management can explore on their own.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QUALITY, CLEANING &amp; VALIDATION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Export to Trusted Dataset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0322098"/>
              </p:ext>
            </p:extLst>
          </p:nvPr>
        </p:nvGraphicFramePr>
        <p:xfrm>
          <a:off x="548640" y="1600200"/>
          <a:ext cx="11064240" cy="39319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Area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 Identified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Resolution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9A6C">
                        <a:alpha val="7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Raw records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25,250 rows loaded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250 exact duplicates found → removed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Unique orders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25,000 confirmed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Deduplicated and validated as the analysis base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Return reason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89 blanks on returned orders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Retained as NULL — reason genuinely unknown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Category / Payment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Inconsistent casing &amp; spacing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Standardized to a single clean label set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5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6233B"/>
                          </a:solidFill>
                        </a:rPr>
                        <a:t>Business rules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5B6B85"/>
                          </a:solidFill>
                        </a:rPr>
                        <a:t>Sales, cost, profit vs. status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6233B"/>
                          </a:solidFill>
                        </a:rPr>
                        <a:t>Verified: Delivered &gt; 0, Returned/Cancelled = 0</a:t>
                      </a:r>
                      <a:endParaRPr lang="en-US" sz="1150" dirty="0"/>
                    </a:p>
                  </a:txBody>
                  <a:tcPr marL="127000" marR="127000" marT="76200" marB="76200" anchor="ctr">
                    <a:lnL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work was completed before any business analysis — not only to remove incorrect records, but to test whether blank, zero, or negative values reflected genuine business outcomes.</a:t>
            </a:r>
            <a:endParaRPr lang="en-US" sz="1150" dirty="0"/>
          </a:p>
        </p:txBody>
      </p:sp>
      <p:sp>
        <p:nvSpPr>
          <p:cNvPr id="4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PERFORMANCE</a:t>
            </a:r>
            <a:endParaRPr lang="en-US" sz="12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25,000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33756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7472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19,450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612648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₹309.96M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915400" y="169164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052560" y="201168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₹105.02M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92608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33.88%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Margin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33756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47472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11.98%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26364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10.22%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91540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chemeClr val="bg1">
              <a:alpha val="90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52560" y="434340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8,448</a:t>
            </a:r>
            <a:endParaRPr lang="en-US" sz="2600" dirty="0"/>
          </a:p>
        </p:txBody>
      </p:sp>
      <p:sp>
        <p:nvSpPr>
          <p:cNvPr id="27" name="Text 25"/>
          <p:cNvSpPr txBox="1"/>
          <p:nvPr/>
        </p:nvSpPr>
        <p:spPr>
          <a:xfrm>
            <a:off x="9052560" y="52578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3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38701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Concentrated In Two Categories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598676766"/>
              </p:ext>
            </p:extLst>
          </p:nvPr>
        </p:nvGraphicFramePr>
        <p:xfrm>
          <a:off x="548640" y="1554480"/>
          <a:ext cx="6949440" cy="4663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73736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72.2%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3317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delivered sales come from Electronics + Furniture alone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772400" y="3200400"/>
            <a:ext cx="356616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383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(each ₹12.59M–₹17.70M in sales):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794760"/>
            <a:ext cx="3840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Chair, Study Table, Sofa Set, Wardrobe, Wooden Bookshelf, Bed Frame, Smartphone, Laptop, Bluetooth Speaker, Router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2578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stock-out or supplier delay in either top category would hit total revenue disproportionately hard.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5880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Customers Drive Volume, Frequency Drives Depth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364743028"/>
              </p:ext>
            </p:extLst>
          </p:nvPr>
        </p:nvGraphicFramePr>
        <p:xfrm>
          <a:off x="548640" y="16002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978250854"/>
              </p:ext>
            </p:extLst>
          </p:nvPr>
        </p:nvGraphicFramePr>
        <p:xfrm>
          <a:off x="6217920" y="160020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currently generate more orders, sales and profit than Returning customers — the business leans on acquisition more than repeat purchasing. Occasional buyers are the single largest segment, ahead of Frequent, One-Time and Highly Frequent combined.</a:t>
            </a:r>
            <a:endParaRPr lang="en-US" sz="115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 Is Heavily Concentrated in Regular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1750808820"/>
              </p:ext>
            </p:extLst>
          </p:nvPr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 txBox="1"/>
          <p:nvPr/>
        </p:nvSpPr>
        <p:spPr>
          <a:xfrm>
            <a:off x="7802880" y="16184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5,271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802880" y="202996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— the largest tier by headcount, and by far the largest by value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802880" y="3211296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even a small share of Regular customers would materially damage overall profit — retention here matters more than anywhere else.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 Sales Don't Always Mean Higher Margin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54505700"/>
              </p:ext>
            </p:extLst>
          </p:nvPr>
        </p:nvGraphicFramePr>
        <p:xfrm>
          <a:off x="548640" y="160020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772400" y="1737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1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₹133.41M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2402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 came with zero discount — and the best margin of any band, 39.32%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0" y="3108960"/>
            <a:ext cx="356616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3291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C7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₹137.48M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37947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sales came from the Very High Discount band — similar revenue, but margin fell to 29.70%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0" y="50749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22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Discounting decisions should be judged on margin, not on the size of the sales number they produce.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C7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 Orders Never Convert to Revenue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809345376"/>
              </p:ext>
            </p:extLst>
          </p:nvPr>
        </p:nvGraphicFramePr>
        <p:xfrm>
          <a:off x="548640" y="1645920"/>
          <a:ext cx="49377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2602101307"/>
              </p:ext>
            </p:extLst>
          </p:nvPr>
        </p:nvGraphicFramePr>
        <p:xfrm>
          <a:off x="5760720" y="164592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60350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return reason dominates — the top cause (Defective Product) is just 11.8% of recorded returns, with the rest spread almost evenly across pricing, fit, fulfilment, and delivery issues. This points to a broad, systemic issue rather than one fixable root cause.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Interactive Dashboard, Five Views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5D7F92-8E11-49B9-E6FF-0D26A267B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428" y="1195849"/>
            <a:ext cx="9645143" cy="52963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More Pages Behind the Executive View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" name="Image 0" descr="/home/claude/ppt_assets/dash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98448"/>
            <a:ext cx="5394960" cy="23957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3950208"/>
            <a:ext cx="5394960" cy="0"/>
          </a:xfrm>
          <a:prstGeom prst="rect">
            <a:avLst/>
          </a:prstGeom>
          <a:noFill/>
          <a:ln/>
        </p:spPr>
      </p:sp>
      <p:sp>
        <p:nvSpPr>
          <p:cNvPr id="6" name="Text 3"/>
          <p:cNvSpPr txBox="1"/>
          <p:nvPr/>
        </p:nvSpPr>
        <p:spPr>
          <a:xfrm>
            <a:off x="579120" y="367923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Product: Sales &amp; Profit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4"/>
          <p:cNvSpPr/>
          <p:nvPr/>
        </p:nvSpPr>
        <p:spPr>
          <a:xfrm>
            <a:off x="6217920" y="3950208"/>
            <a:ext cx="5394960" cy="0"/>
          </a:xfrm>
          <a:prstGeom prst="rect">
            <a:avLst/>
          </a:prstGeom>
          <a:noFill/>
          <a:ln/>
        </p:spPr>
      </p:sp>
      <p:sp>
        <p:nvSpPr>
          <p:cNvPr id="9" name="Text 5"/>
          <p:cNvSpPr txBox="1"/>
          <p:nvPr/>
        </p:nvSpPr>
        <p:spPr>
          <a:xfrm>
            <a:off x="6153912" y="3679231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Image 2" descr="/home/claude/ppt_assets/dash_g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4148033"/>
            <a:ext cx="5394960" cy="239572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548640" y="6848856"/>
            <a:ext cx="5394960" cy="0"/>
          </a:xfrm>
          <a:prstGeom prst="rect">
            <a:avLst/>
          </a:prstGeom>
          <a:noFill/>
          <a:ln/>
        </p:spPr>
      </p:sp>
      <p:sp>
        <p:nvSpPr>
          <p:cNvPr id="12" name="Text 7"/>
          <p:cNvSpPr txBox="1"/>
          <p:nvPr/>
        </p:nvSpPr>
        <p:spPr>
          <a:xfrm>
            <a:off x="579120" y="6528816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&amp; Regional Analysis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3" name="Image 3" descr="/home/claude/ppt_assets/dash_delive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3912" y="4148033"/>
            <a:ext cx="5394960" cy="239572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217920" y="6848856"/>
            <a:ext cx="5394960" cy="0"/>
          </a:xfrm>
          <a:prstGeom prst="rect">
            <a:avLst/>
          </a:prstGeom>
          <a:noFill/>
          <a:ln/>
        </p:spPr>
      </p:sp>
      <p:sp>
        <p:nvSpPr>
          <p:cNvPr id="15" name="Text 9"/>
          <p:cNvSpPr txBox="1"/>
          <p:nvPr/>
        </p:nvSpPr>
        <p:spPr>
          <a:xfrm>
            <a:off x="6181344" y="6549365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Delivery, Returns &amp; Cancellations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0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>
              <a:solidFill>
                <a:schemeClr val="bg1"/>
              </a:solidFill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DDA62F1-A969-881C-E376-66A6627E0C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3912" y="1311524"/>
            <a:ext cx="5333735" cy="23546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MIS &amp; VALIDATION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Reconciled Independently in Excel</a:t>
            </a: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" name="Image 0" descr="/home/claude/ppt_assets/excel_mi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6766560" cy="46177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589520" y="1645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reconcile twice?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589520" y="2103120"/>
            <a:ext cx="4023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produces the analysis; Excel independently re-derives the same KPIs using pivot tables. If the two don't match, something in the pipeline is wrong.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589520" y="3246120"/>
            <a:ext cx="3749040" cy="0"/>
          </a:xfrm>
          <a:prstGeom prst="line">
            <a:avLst/>
          </a:prstGeom>
          <a:noFill/>
          <a:ln w="12700">
            <a:solidFill>
              <a:srgbClr val="E1E5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34290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589520" y="3794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product, and headline KPI totals reconcile exactly between SQL and Excel — confirming the analysis logic is consistent across tools.</a:t>
            </a:r>
            <a:endParaRPr lang="en-US" sz="125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Management Should Do Next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2880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8216" y="1818132"/>
            <a:ext cx="107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417320" y="172669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high-value categories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417320" y="205740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inventory, supplier reliability and margin protection for Electronics and Furniture.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60604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3464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8346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417320" y="269748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occasional buyers into repeat customers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417320" y="3034792"/>
            <a:ext cx="9665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Post-purchase offers, loyalty rewards and personalized recommendations to shift the New→Returning balance.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4048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8404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417320" y="3703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returns by root cause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417320" y="406908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cause dominates — fix quality, fulfilment, sizing and descriptions in parallel, not one at a time.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61772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84632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83717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417320" y="4709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discounts on margin, not sales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417320" y="507492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category-level margin thresholds and test discount depth against actual profit impact.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896112"/>
          </a:xfrm>
          <a:prstGeom prst="roundRect">
            <a:avLst>
              <a:gd name="adj" fmla="val 7143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E1E5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852160"/>
            <a:ext cx="438912" cy="438912"/>
          </a:xfrm>
          <a:prstGeom prst="ellipse">
            <a:avLst/>
          </a:prstGeom>
          <a:solidFill>
            <a:srgbClr val="C19A6C">
              <a:alpha val="75000"/>
            </a:srgb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77240" y="58521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1417320" y="57150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Premium customers above all else</a:t>
            </a:r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417320" y="6080760"/>
            <a:ext cx="9966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tier drives 93% of profit — retention here outweighs almost any other initiative.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19A6C">
            <a:alpha val="75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749040"/>
            <a:ext cx="3241040" cy="3097784"/>
          </a:xfrm>
          <a:prstGeom prst="ellipse">
            <a:avLst/>
          </a:prstGeom>
          <a:solidFill>
            <a:schemeClr val="bg1">
              <a:alpha val="88000"/>
            </a:scheme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5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822960" y="114300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End-to-End Data Analyst Workflow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65960"/>
            <a:ext cx="7498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a complete analyst workflow: SQL to profile, clean and validate; SQL again for detailed business analysis; Excel to reconcile the numbers independently; and Power BI to put it all in front of decision-makers. The business is profitable at a 33.88% margin — but revenue concentration, return/cancellation rates near 22%, and profit riding almost entirely on Premium customers are the areas that deserve the next round of attention.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4398264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97280" y="427024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(CTEs, joins, validation)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782312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97280" y="4654296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(pivot tables, MIS reconciliation)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97280" y="5038344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(DAX, dashboard design)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22960" y="5550408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97280" y="542239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QA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5934456"/>
            <a:ext cx="109728" cy="109728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97280" y="58064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2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778240" y="1965960"/>
            <a:ext cx="2834640" cy="2743200"/>
          </a:xfrm>
          <a:prstGeom prst="roundRect">
            <a:avLst>
              <a:gd name="adj" fmla="val 3333"/>
            </a:avLst>
          </a:prstGeom>
          <a:solidFill>
            <a:schemeClr val="bg1">
              <a:alpha val="88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2286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Dhanush Narla</a:t>
            </a:r>
            <a:endParaRPr lang="en-US" sz="15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9052560" y="2651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Aspiring Data Analyst</a:t>
            </a:r>
            <a:endParaRPr lang="en-US" sz="115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052560" y="3154680"/>
            <a:ext cx="2103120" cy="0"/>
          </a:xfrm>
          <a:prstGeom prst="line">
            <a:avLst/>
          </a:prstGeom>
          <a:noFill/>
          <a:ln w="12700">
            <a:solidFill>
              <a:srgbClr val="3A4B7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52560" y="3436951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dhanushnarla5@gmail.com</a:t>
            </a:r>
            <a:endParaRPr lang="en-US" sz="1200" dirty="0">
              <a:solidFill>
                <a:srgbClr val="C7D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200" dirty="0">
              <a:solidFill>
                <a:srgbClr val="C7D0E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9052560" y="3749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LinkedIn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052560" y="4160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0E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698</TotalTime>
  <Words>1219</Words>
  <Application>Microsoft Office PowerPoint</Application>
  <PresentationFormat>Widescreen</PresentationFormat>
  <Paragraphs>240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Dhanush Narla</cp:lastModifiedBy>
  <cp:revision>6</cp:revision>
  <dcterms:created xsi:type="dcterms:W3CDTF">2026-09-12T10:31:07Z</dcterms:created>
  <dcterms:modified xsi:type="dcterms:W3CDTF">2026-09-18T10:56:38Z</dcterms:modified>
</cp:coreProperties>
</file>